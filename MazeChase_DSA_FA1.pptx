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ma'am/sir. Our DSA project is Maze Chase, a real-time maze game in C++ where the player escapes a fogged maze while an AI hunter chases them. The main idea is that the data structures are not a separate demo, they run live inside the game. A stack generates the maze and a queue drives the hunter. Today we cover our progress, which data structures we used and why, what we will add next, and our course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version was a maze solver in C. It worked but it was static: you watched it and nothing depended on you. So we asked what happens if the data structures do something live, with consequences. We turned it into a game. The player sees only nearby cells because of fog of war, and a hunter keeps recomputing the shortest path to catch them. The key point: the two main mechanics of the game are two classic algorithms. A stack builds the maze and a queue drives the hunter. DEMO CUE: run the game for about 10 seconds and show the map preview, then the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works right now. One, maze generation: a fresh random 39 by 39 maze each run. Two, the player, with smooth grid movement and fog of war where discovered cells stay revealed. Three, the hunter, which wakes after a head start and chases using live BFS. Four, game states: preview, playing, won, lost, with R to restart. The map preview lasts five seconds, the player is frozen for three, and the hunter wakes at 3.5 seconds, so there is a small head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split so the data structures are reusable and independent of the game. At the top is main.cpp, the 60 FPS game loop with capped delta time, input and the state machine. Below are three game classes: Maze, Player and Hunter. Maze includes our Stack and Hunter includes our Queue. Both come from dsa_lib, our own templated library, which has no dependency on the game or SFML. SFML only handles the window, drawing and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structure is the stack, used in maze generation. We run depth-first search iteratively. We push the start cell, look at the top, and collect neighbours two steps away that are still walls. If there are any, we pick one at random, knock down the wall between, mark the new cell as path and push it. If there are none, it is a dead end, so we pop, which is the backtrack. Why a stack: backtracking always returns to the most recent cell that still has options, which is LIFO. It is the recursion stack made explicit, so there is no deep call chain. DEMO CUE: open Maze::generate() and point at push, top and pop.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fill the grid with walls and push the start cell. Step two, peek at the top and list neighbours two cells away that are still walls. We jump by two so a wall cell always stays between rooms. Step three, pick one at random, open the wall between and the new cell, and push it. Step four, when nothing is available, pop and resume from an older cell. The loop ends when the stack is empty. Step five, braiding: we collect walls that have open path on two opposite sides and remove 18 percent of them. That turns the tree-like maze into a graph with cycles, so the hunter's shortest path actually has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structure is the queue, used for the hunter. Every 0.35 seconds the hunter runs BFS from its own cell to the player's cell. It enqueues its start cell and marks it visited. Then it repeatedly takes the front cell, and for each open unvisited neighbour it marks it visited, records the parent, and adds it to the back. Because the queue is first in first out, BFS goes layer by layer, so the first time it reaches the player, the route is guaranteed shortest as every move costs the same. Once found, we walk parent pointers backwards to the cell adjacent to the hunter, and that is the next step. DEMO CUE: open Hunter::step() and point at the queue, the parent table and the backtrace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justification. DFS with a stack goes deep and backtracks. That gives long winding corridors, which is what you want in a maze, but it does not give shortest paths. BFS with a queue expands by distance, which gives shortest paths, which is what the hunter needs. If we swapped them, the hunter would take long detours and the maze would come out short and branchy. So the choice of structure directly decides the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structures are our own templated linked-list implementations. A node stores data and a next pointer. The stack keeps a top pointer, and push and pop happen at the head, so they are O(1). The queue keeps both head and tail pointers. Enqueue appends at the tail and dequeue removes from the head, both O(1). The tail pointer is the important detail: without it, enqueue would have to walk the whole list. We chose linked lists over arrays because there is no fixed capacity and no shifting or circular index arithmetic. The tradeoff is one heap allocation per node, fine at this scale. For safety, pop checks for empty, the destructor frees all nodes, and the queue nulls the tail when it becomes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Maze generation is O of rows times columns because every cell is pushed once and popped once. The braiding pass is also linear. BFS is O of V plus E, and on a grid each cell has at most four edges, so it is proportional to rows times columns. With 1521 cells and about three BFS runs per second the cost is negligible. Every stack and queue operation is O(1) because we only touch the head or the tail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stack and queue, we use 2D arrays for the maze grid, the visited and parent tables used by BFS, and the player's fog-of-war map. The maze is also an implicit graph: every open cell is a vertex and adjacent open cells are edges, but we never build an adjacency list, we compute neighbours from the grid. So DFS and BFS here are true graph traversals. The pair type carries coordinates, and the linked list is the underlying implementation of both stack and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is done. Phase two is a binary search tree leaderboard. After each escape we insert the player's time or step count as a key. Insert is O(log n) on average, and an in-order traversal returns ranked scores already sorted. Phase three is sorting: bubble, insertion and merge sort on the same leaderboard data, with a comparison so O(n squared) versus O(n log n) is visible on real data. Phase four is a linked-list power-up inventory and Dear ImGui panels. We will only commit to what we can finish, so phase four is the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 working game where a stack generates the world and a queue drives the enemy, both from our own implementations. Next we add the BST leaderboard and the sorting comparison. On course status: [fill in the topics you have covered]. Trees and sorting are what remain, and they map directly to our next two phases.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914400"/>
          </a:xfrm>
          <a:prstGeom prst="rect">
            <a:avLst/>
          </a:prstGeom>
          <a:noFill/>
          <a:ln/>
        </p:spPr>
        <p:txBody>
          <a:bodyPr wrap="square" lIns="0" tIns="0" rIns="0" bIns="0" rtlCol="0" anchor="ctr"/>
          <a:lstStyle/>
          <a:p>
            <a:pPr indent="0" marL="0">
              <a:buNone/>
            </a:pPr>
            <a:r>
              <a:rPr lang="en-US" sz="5400" b="1" dirty="0">
                <a:solidFill>
                  <a:srgbClr val="00E5FF"/>
                </a:solidFill>
                <a:latin typeface="Cambria" pitchFamily="34" charset="0"/>
                <a:ea typeface="Cambria" pitchFamily="34" charset="-122"/>
                <a:cs typeface="Cambria" pitchFamily="34" charset="-120"/>
              </a:rPr>
              <a:t>MAZE CHASE</a:t>
            </a:r>
            <a:endParaRPr lang="en-US" sz="5400" dirty="0"/>
          </a:p>
        </p:txBody>
      </p:sp>
      <p:sp>
        <p:nvSpPr>
          <p:cNvPr id="3" name="Text 1"/>
          <p:cNvSpPr txBox="1"/>
          <p:nvPr/>
        </p:nvSpPr>
        <p:spPr>
          <a:xfrm>
            <a:off x="548640" y="2377440"/>
            <a:ext cx="8046720" cy="548640"/>
          </a:xfrm>
          <a:prstGeom prst="rect">
            <a:avLst/>
          </a:prstGeom>
          <a:noFill/>
          <a:ln/>
        </p:spPr>
        <p:txBody>
          <a:bodyPr wrap="square" lIns="0" tIns="0" rIns="0" bIns="0" rtlCol="0" anchor="ctr"/>
          <a:lstStyle/>
          <a:p>
            <a:pPr indent="0" marL="0">
              <a:buNone/>
            </a:pPr>
            <a:r>
              <a:rPr lang="en-US" sz="2000" dirty="0">
                <a:solidFill>
                  <a:srgbClr val="E6EDF7"/>
                </a:solidFill>
                <a:latin typeface="Calibri" pitchFamily="34" charset="0"/>
                <a:ea typeface="Calibri" pitchFamily="34" charset="-122"/>
                <a:cs typeface="Calibri" pitchFamily="34" charset="-120"/>
              </a:rPr>
              <a:t>A real-time maze game where a Stack builds the world and a Queue hunts you</a:t>
            </a:r>
            <a:endParaRPr lang="en-US" sz="2000" dirty="0"/>
          </a:p>
        </p:txBody>
      </p:sp>
      <p:sp>
        <p:nvSpPr>
          <p:cNvPr id="4" name="Text 2"/>
          <p:cNvSpPr txBox="1"/>
          <p:nvPr/>
        </p:nvSpPr>
        <p:spPr>
          <a:xfrm>
            <a:off x="548640" y="3108960"/>
            <a:ext cx="8046720" cy="365760"/>
          </a:xfrm>
          <a:prstGeom prst="rect">
            <a:avLst/>
          </a:prstGeom>
          <a:noFill/>
          <a:ln/>
        </p:spPr>
        <p:txBody>
          <a:bodyPr wrap="square" lIns="0" tIns="0" rIns="0" bIns="0" rtlCol="0" anchor="ctr"/>
          <a:lstStyle/>
          <a:p>
            <a:pPr indent="0" marL="0">
              <a:buNone/>
            </a:pPr>
            <a:r>
              <a:rPr lang="en-US" sz="1400" dirty="0">
                <a:solidFill>
                  <a:srgbClr val="8B98B0"/>
                </a:solidFill>
                <a:latin typeface="Calibri" pitchFamily="34" charset="0"/>
                <a:ea typeface="Calibri" pitchFamily="34" charset="-122"/>
                <a:cs typeface="Calibri" pitchFamily="34" charset="-120"/>
              </a:rPr>
              <a:t>Data Structures and Algorithms | FA1 Project Review</a:t>
            </a:r>
            <a:endParaRPr lang="en-US" sz="1400" dirty="0"/>
          </a:p>
        </p:txBody>
      </p:sp>
      <p:sp>
        <p:nvSpPr>
          <p:cNvPr id="5" name="Text 3"/>
          <p:cNvSpPr txBox="1"/>
          <p:nvPr/>
        </p:nvSpPr>
        <p:spPr>
          <a:xfrm>
            <a:off x="548640" y="4297680"/>
            <a:ext cx="8046720" cy="320040"/>
          </a:xfrm>
          <a:prstGeom prst="rect">
            <a:avLst/>
          </a:prstGeom>
          <a:noFill/>
          <a:ln/>
        </p:spPr>
        <p:txBody>
          <a:bodyPr wrap="square" lIns="0" tIns="0" rIns="0" bIns="0" rtlCol="0" anchor="ctr"/>
          <a:lstStyle/>
          <a:p>
            <a:pPr indent="0" marL="0">
              <a:buNone/>
            </a:pPr>
            <a:r>
              <a:rPr lang="en-US" sz="1300" dirty="0">
                <a:solidFill>
                  <a:srgbClr val="8B98B0"/>
                </a:solidFill>
                <a:latin typeface="Calibri" pitchFamily="34" charset="0"/>
                <a:ea typeface="Calibri" pitchFamily="34" charset="-122"/>
                <a:cs typeface="Calibri" pitchFamily="34" charset="-120"/>
              </a:rPr>
              <a:t>[Team names]  |  PCCoE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Idea and Motivation</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From a static solver to a live chase</a:t>
            </a:r>
            <a:endParaRPr lang="en-US" sz="1400" dirty="0"/>
          </a:p>
        </p:txBody>
      </p:sp>
      <p:sp>
        <p:nvSpPr>
          <p:cNvPr id="5" name="Text 2"/>
          <p:cNvSpPr txBox="1"/>
          <p:nvPr/>
        </p:nvSpPr>
        <p:spPr>
          <a:xfrm>
            <a:off x="457200" y="137160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Version 1: maze solver in C with our own DSA library. Ran once, showed a result.</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Version 2: C++ game with SFML. Player escapes under fog of war, hunter recomputes the shortest path every 0.35 s.</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Design rule: the game mechanics ARE the algorithms. Wrong structure means visibly wrong behaviour.</a:t>
            </a:r>
            <a:endParaRPr lang="en-US" sz="1500" dirty="0"/>
          </a:p>
        </p:txBody>
      </p:sp>
      <p:sp>
        <p:nvSpPr>
          <p:cNvPr id="6" name="Shape 3"/>
          <p:cNvSpPr/>
          <p:nvPr/>
        </p:nvSpPr>
        <p:spPr>
          <a:xfrm>
            <a:off x="5577840" y="1371600"/>
            <a:ext cx="3108960" cy="960120"/>
          </a:xfrm>
          <a:prstGeom prst="roundRect">
            <a:avLst>
              <a:gd name="adj" fmla="val 7619"/>
            </a:avLst>
          </a:prstGeom>
          <a:solidFill>
            <a:srgbClr val="111827"/>
          </a:solidFill>
          <a:ln w="12700">
            <a:solidFill>
              <a:srgbClr val="00E087"/>
            </a:solidFill>
            <a:prstDash val="solid"/>
          </a:ln>
        </p:spPr>
      </p:sp>
      <p:sp>
        <p:nvSpPr>
          <p:cNvPr id="7" name="Text 4"/>
          <p:cNvSpPr txBox="1"/>
          <p:nvPr/>
        </p:nvSpPr>
        <p:spPr>
          <a:xfrm>
            <a:off x="5715000" y="1463040"/>
            <a:ext cx="28346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STACK + DFS</a:t>
            </a:r>
            <a:endParaRPr lang="en-US" sz="1500" dirty="0"/>
          </a:p>
        </p:txBody>
      </p:sp>
      <p:sp>
        <p:nvSpPr>
          <p:cNvPr id="8" name="Text 5"/>
          <p:cNvSpPr txBox="1"/>
          <p:nvPr/>
        </p:nvSpPr>
        <p:spPr>
          <a:xfrm>
            <a:off x="5715000" y="1810512"/>
            <a:ext cx="2834640" cy="429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builds the maze</a:t>
            </a:r>
            <a:endParaRPr lang="en-US" sz="1200" dirty="0"/>
          </a:p>
        </p:txBody>
      </p:sp>
      <p:sp>
        <p:nvSpPr>
          <p:cNvPr id="9" name="Shape 6"/>
          <p:cNvSpPr/>
          <p:nvPr/>
        </p:nvSpPr>
        <p:spPr>
          <a:xfrm>
            <a:off x="5577840" y="2514600"/>
            <a:ext cx="3108960" cy="960120"/>
          </a:xfrm>
          <a:prstGeom prst="roundRect">
            <a:avLst>
              <a:gd name="adj" fmla="val 7619"/>
            </a:avLst>
          </a:prstGeom>
          <a:solidFill>
            <a:srgbClr val="111827"/>
          </a:solidFill>
          <a:ln w="12700">
            <a:solidFill>
              <a:srgbClr val="00E5FF"/>
            </a:solidFill>
            <a:prstDash val="solid"/>
          </a:ln>
        </p:spPr>
      </p:sp>
      <p:sp>
        <p:nvSpPr>
          <p:cNvPr id="10" name="Text 7"/>
          <p:cNvSpPr txBox="1"/>
          <p:nvPr/>
        </p:nvSpPr>
        <p:spPr>
          <a:xfrm>
            <a:off x="5715000" y="2606040"/>
            <a:ext cx="28346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QUEUE + BFS</a:t>
            </a:r>
            <a:endParaRPr lang="en-US" sz="1500" dirty="0"/>
          </a:p>
        </p:txBody>
      </p:sp>
      <p:sp>
        <p:nvSpPr>
          <p:cNvPr id="11" name="Text 8"/>
          <p:cNvSpPr txBox="1"/>
          <p:nvPr/>
        </p:nvSpPr>
        <p:spPr>
          <a:xfrm>
            <a:off x="5715000" y="2953512"/>
            <a:ext cx="2834640" cy="429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drives the hunter</a:t>
            </a:r>
            <a:endParaRPr lang="en-US" sz="1200" dirty="0"/>
          </a:p>
        </p:txBody>
      </p:sp>
      <p:sp>
        <p:nvSpPr>
          <p:cNvPr id="12" name="Shape 9"/>
          <p:cNvSpPr/>
          <p:nvPr/>
        </p:nvSpPr>
        <p:spPr>
          <a:xfrm>
            <a:off x="5577840" y="3657600"/>
            <a:ext cx="3108960" cy="960120"/>
          </a:xfrm>
          <a:prstGeom prst="roundRect">
            <a:avLst>
              <a:gd name="adj" fmla="val 7619"/>
            </a:avLst>
          </a:prstGeom>
          <a:solidFill>
            <a:srgbClr val="111827"/>
          </a:solidFill>
          <a:ln w="12700">
            <a:solidFill>
              <a:srgbClr val="FFB020"/>
            </a:solidFill>
            <a:prstDash val="solid"/>
          </a:ln>
        </p:spPr>
      </p:sp>
      <p:sp>
        <p:nvSpPr>
          <p:cNvPr id="13" name="Text 10"/>
          <p:cNvSpPr txBox="1"/>
          <p:nvPr/>
        </p:nvSpPr>
        <p:spPr>
          <a:xfrm>
            <a:off x="5715000" y="3749040"/>
            <a:ext cx="283464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2D ARRAYS + GRAPH</a:t>
            </a:r>
            <a:endParaRPr lang="en-US" sz="1500" dirty="0"/>
          </a:p>
        </p:txBody>
      </p:sp>
      <p:sp>
        <p:nvSpPr>
          <p:cNvPr id="14" name="Text 11"/>
          <p:cNvSpPr txBox="1"/>
          <p:nvPr/>
        </p:nvSpPr>
        <p:spPr>
          <a:xfrm>
            <a:off x="5715000" y="4096512"/>
            <a:ext cx="2834640" cy="429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hold and model the world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Progress So Far</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Working end to end: generate, move, chase, win or lose</a:t>
            </a:r>
            <a:endParaRPr lang="en-US" sz="1400" dirty="0"/>
          </a:p>
        </p:txBody>
      </p:sp>
      <p:sp>
        <p:nvSpPr>
          <p:cNvPr id="5" name="Shape 2"/>
          <p:cNvSpPr/>
          <p:nvPr/>
        </p:nvSpPr>
        <p:spPr>
          <a:xfrm>
            <a:off x="457200" y="1371600"/>
            <a:ext cx="4023360" cy="1554480"/>
          </a:xfrm>
          <a:prstGeom prst="roundRect">
            <a:avLst>
              <a:gd name="adj" fmla="val 4706"/>
            </a:avLst>
          </a:prstGeom>
          <a:solidFill>
            <a:srgbClr val="111827"/>
          </a:solidFill>
          <a:ln w="12700">
            <a:solidFill>
              <a:srgbClr val="00E087"/>
            </a:solidFill>
            <a:prstDash val="solid"/>
          </a:ln>
        </p:spPr>
      </p:sp>
      <p:sp>
        <p:nvSpPr>
          <p:cNvPr id="6" name="Text 3"/>
          <p:cNvSpPr txBox="1"/>
          <p:nvPr/>
        </p:nvSpPr>
        <p:spPr>
          <a:xfrm>
            <a:off x="594360" y="1463040"/>
            <a:ext cx="37490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Maze Generation</a:t>
            </a:r>
            <a:endParaRPr lang="en-US" sz="1500" dirty="0"/>
          </a:p>
        </p:txBody>
      </p:sp>
      <p:sp>
        <p:nvSpPr>
          <p:cNvPr id="7" name="Text 4"/>
          <p:cNvSpPr txBox="1"/>
          <p:nvPr/>
        </p:nvSpPr>
        <p:spPr>
          <a:xfrm>
            <a:off x="594360" y="181051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Random 39x39 maze via stack-based DFS, then braided with loops.</a:t>
            </a:r>
            <a:endParaRPr lang="en-US" sz="1200" dirty="0"/>
          </a:p>
        </p:txBody>
      </p:sp>
      <p:sp>
        <p:nvSpPr>
          <p:cNvPr id="8" name="Shape 5"/>
          <p:cNvSpPr/>
          <p:nvPr/>
        </p:nvSpPr>
        <p:spPr>
          <a:xfrm>
            <a:off x="4663440" y="1371600"/>
            <a:ext cx="4023360" cy="1554480"/>
          </a:xfrm>
          <a:prstGeom prst="roundRect">
            <a:avLst>
              <a:gd name="adj" fmla="val 4706"/>
            </a:avLst>
          </a:prstGeom>
          <a:solidFill>
            <a:srgbClr val="111827"/>
          </a:solidFill>
          <a:ln w="12700">
            <a:solidFill>
              <a:srgbClr val="00E5FF"/>
            </a:solidFill>
            <a:prstDash val="solid"/>
          </a:ln>
        </p:spPr>
      </p:sp>
      <p:sp>
        <p:nvSpPr>
          <p:cNvPr id="9" name="Text 6"/>
          <p:cNvSpPr txBox="1"/>
          <p:nvPr/>
        </p:nvSpPr>
        <p:spPr>
          <a:xfrm>
            <a:off x="4800600" y="1463040"/>
            <a:ext cx="37490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Player + Fog</a:t>
            </a:r>
            <a:endParaRPr lang="en-US" sz="1500" dirty="0"/>
          </a:p>
        </p:txBody>
      </p:sp>
      <p:sp>
        <p:nvSpPr>
          <p:cNvPr id="10" name="Text 7"/>
          <p:cNvSpPr txBox="1"/>
          <p:nvPr/>
        </p:nvSpPr>
        <p:spPr>
          <a:xfrm>
            <a:off x="4800600" y="181051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Smooth grid movement. Radius plus a light cone ahead is revealed and remembered.</a:t>
            </a:r>
            <a:endParaRPr lang="en-US" sz="1200" dirty="0"/>
          </a:p>
        </p:txBody>
      </p:sp>
      <p:sp>
        <p:nvSpPr>
          <p:cNvPr id="11" name="Shape 8"/>
          <p:cNvSpPr/>
          <p:nvPr/>
        </p:nvSpPr>
        <p:spPr>
          <a:xfrm>
            <a:off x="457200" y="3108960"/>
            <a:ext cx="4023360" cy="1554480"/>
          </a:xfrm>
          <a:prstGeom prst="roundRect">
            <a:avLst>
              <a:gd name="adj" fmla="val 4706"/>
            </a:avLst>
          </a:prstGeom>
          <a:solidFill>
            <a:srgbClr val="111827"/>
          </a:solidFill>
          <a:ln w="12700">
            <a:solidFill>
              <a:srgbClr val="FF4D6D"/>
            </a:solidFill>
            <a:prstDash val="solid"/>
          </a:ln>
        </p:spPr>
      </p:sp>
      <p:sp>
        <p:nvSpPr>
          <p:cNvPr id="12" name="Text 9"/>
          <p:cNvSpPr txBox="1"/>
          <p:nvPr/>
        </p:nvSpPr>
        <p:spPr>
          <a:xfrm>
            <a:off x="594360" y="3200400"/>
            <a:ext cx="3749040" cy="320040"/>
          </a:xfrm>
          <a:prstGeom prst="rect">
            <a:avLst/>
          </a:prstGeom>
          <a:noFill/>
          <a:ln/>
        </p:spPr>
        <p:txBody>
          <a:bodyPr wrap="square" lIns="0" tIns="0" rIns="0" bIns="0" rtlCol="0" anchor="ctr"/>
          <a:lstStyle/>
          <a:p>
            <a:pPr indent="0" marL="0">
              <a:buNone/>
            </a:pPr>
            <a:r>
              <a:rPr lang="en-US" sz="1500" b="1" dirty="0">
                <a:solidFill>
                  <a:srgbClr val="FF4D6D"/>
                </a:solidFill>
                <a:latin typeface="Calibri" pitchFamily="34" charset="0"/>
                <a:ea typeface="Calibri" pitchFamily="34" charset="-122"/>
                <a:cs typeface="Calibri" pitchFamily="34" charset="-120"/>
              </a:rPr>
              <a:t>Hunter AI</a:t>
            </a:r>
            <a:endParaRPr lang="en-US" sz="1500" dirty="0"/>
          </a:p>
        </p:txBody>
      </p:sp>
      <p:sp>
        <p:nvSpPr>
          <p:cNvPr id="13" name="Text 10"/>
          <p:cNvSpPr txBox="1"/>
          <p:nvPr/>
        </p:nvSpPr>
        <p:spPr>
          <a:xfrm>
            <a:off x="594360" y="354787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Wakes at 3.5 s, runs queue-based BFS every 0.35 s, steps along the shortest path.</a:t>
            </a:r>
            <a:endParaRPr lang="en-US" sz="1200" dirty="0"/>
          </a:p>
        </p:txBody>
      </p:sp>
      <p:sp>
        <p:nvSpPr>
          <p:cNvPr id="14" name="Shape 11"/>
          <p:cNvSpPr/>
          <p:nvPr/>
        </p:nvSpPr>
        <p:spPr>
          <a:xfrm>
            <a:off x="4663440" y="3108960"/>
            <a:ext cx="4023360" cy="1554480"/>
          </a:xfrm>
          <a:prstGeom prst="roundRect">
            <a:avLst>
              <a:gd name="adj" fmla="val 4706"/>
            </a:avLst>
          </a:prstGeom>
          <a:solidFill>
            <a:srgbClr val="111827"/>
          </a:solidFill>
          <a:ln w="12700">
            <a:solidFill>
              <a:srgbClr val="FFB020"/>
            </a:solidFill>
            <a:prstDash val="solid"/>
          </a:ln>
        </p:spPr>
      </p:sp>
      <p:sp>
        <p:nvSpPr>
          <p:cNvPr id="15" name="Text 12"/>
          <p:cNvSpPr txBox="1"/>
          <p:nvPr/>
        </p:nvSpPr>
        <p:spPr>
          <a:xfrm>
            <a:off x="4800600" y="3200400"/>
            <a:ext cx="374904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Game States</a:t>
            </a:r>
            <a:endParaRPr lang="en-US" sz="1500" dirty="0"/>
          </a:p>
        </p:txBody>
      </p:sp>
      <p:sp>
        <p:nvSpPr>
          <p:cNvPr id="16" name="Text 13"/>
          <p:cNvSpPr txBox="1"/>
          <p:nvPr/>
        </p:nvSpPr>
        <p:spPr>
          <a:xfrm>
            <a:off x="4800600" y="354787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Preview (5 s), Playing, Won, Lost. Press R to regenerate and retry.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Code Architecture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Game logic and data structures are deliberately separate</a:t>
            </a:r>
            <a:endParaRPr lang="en-US" sz="1400" dirty="0"/>
          </a:p>
        </p:txBody>
      </p:sp>
      <p:sp>
        <p:nvSpPr>
          <p:cNvPr id="5" name="Shape 2"/>
          <p:cNvSpPr/>
          <p:nvPr/>
        </p:nvSpPr>
        <p:spPr>
          <a:xfrm>
            <a:off x="457200" y="1371600"/>
            <a:ext cx="8229600" cy="685800"/>
          </a:xfrm>
          <a:prstGeom prst="roundRect">
            <a:avLst>
              <a:gd name="adj" fmla="val 10667"/>
            </a:avLst>
          </a:prstGeom>
          <a:solidFill>
            <a:srgbClr val="111827"/>
          </a:solidFill>
          <a:ln w="19050">
            <a:solidFill>
              <a:srgbClr val="FFB020"/>
            </a:solidFill>
            <a:prstDash val="solid"/>
          </a:ln>
        </p:spPr>
      </p:sp>
      <p:sp>
        <p:nvSpPr>
          <p:cNvPr id="6" name="Text 3"/>
          <p:cNvSpPr txBox="1"/>
          <p:nvPr/>
        </p:nvSpPr>
        <p:spPr>
          <a:xfrm>
            <a:off x="640080" y="1371600"/>
            <a:ext cx="7863840" cy="685800"/>
          </a:xfrm>
          <a:prstGeom prst="rect">
            <a:avLst/>
          </a:prstGeom>
          <a:noFill/>
          <a:ln/>
        </p:spPr>
        <p:txBody>
          <a:bodyPr wrap="square" lIns="0" tIns="0" rIns="0" bIns="0" rtlCol="0" anchor="ctr"/>
          <a:lstStyle/>
          <a:p>
            <a:pPr indent="0" marL="0">
              <a:buNone/>
            </a:pPr>
            <a:r>
              <a:rPr lang="en-US" sz="1400" b="1" dirty="0">
                <a:solidFill>
                  <a:srgbClr val="FFB020"/>
                </a:solidFill>
                <a:latin typeface="Calibri" pitchFamily="34" charset="0"/>
                <a:ea typeface="Calibri" pitchFamily="34" charset="-122"/>
                <a:cs typeface="Calibri" pitchFamily="34" charset="-120"/>
              </a:rPr>
              <a:t>main.cpp   </a:t>
            </a:r>
            <a:pPr indent="0" marL="0">
              <a:buNone/>
            </a:pPr>
            <a:r>
              <a:rPr lang="en-US" sz="1400" dirty="0">
                <a:solidFill>
                  <a:srgbClr val="E6EDF7"/>
                </a:solidFill>
                <a:latin typeface="Calibri" pitchFamily="34" charset="0"/>
                <a:ea typeface="Calibri" pitchFamily="34" charset="-122"/>
                <a:cs typeface="Calibri" pitchFamily="34" charset="-120"/>
              </a:rPr>
              <a:t>60 FPS loop, input, state machine, rendering</a:t>
            </a:r>
            <a:endParaRPr lang="en-US" sz="1400" dirty="0"/>
          </a:p>
        </p:txBody>
      </p:sp>
      <p:sp>
        <p:nvSpPr>
          <p:cNvPr id="7" name="Shape 4"/>
          <p:cNvSpPr/>
          <p:nvPr/>
        </p:nvSpPr>
        <p:spPr>
          <a:xfrm>
            <a:off x="868680" y="2194560"/>
            <a:ext cx="7406640" cy="685800"/>
          </a:xfrm>
          <a:prstGeom prst="roundRect">
            <a:avLst>
              <a:gd name="adj" fmla="val 10667"/>
            </a:avLst>
          </a:prstGeom>
          <a:solidFill>
            <a:srgbClr val="111827"/>
          </a:solidFill>
          <a:ln w="19050">
            <a:solidFill>
              <a:srgbClr val="00E5FF"/>
            </a:solidFill>
            <a:prstDash val="solid"/>
          </a:ln>
        </p:spPr>
      </p:sp>
      <p:sp>
        <p:nvSpPr>
          <p:cNvPr id="8" name="Text 5"/>
          <p:cNvSpPr txBox="1"/>
          <p:nvPr/>
        </p:nvSpPr>
        <p:spPr>
          <a:xfrm>
            <a:off x="1051560" y="2194560"/>
            <a:ext cx="7040880" cy="685800"/>
          </a:xfrm>
          <a:prstGeom prst="rect">
            <a:avLst/>
          </a:prstGeom>
          <a:noFill/>
          <a:ln/>
        </p:spPr>
        <p:txBody>
          <a:bodyPr wrap="square" lIns="0" tIns="0" rIns="0" bIns="0" rtlCol="0" anchor="ctr"/>
          <a:lstStyle/>
          <a:p>
            <a:pPr indent="0" marL="0">
              <a:buNone/>
            </a:pPr>
            <a:r>
              <a:rPr lang="en-US" sz="1400" b="1" dirty="0">
                <a:solidFill>
                  <a:srgbClr val="00E5FF"/>
                </a:solidFill>
                <a:latin typeface="Calibri" pitchFamily="34" charset="0"/>
                <a:ea typeface="Calibri" pitchFamily="34" charset="-122"/>
                <a:cs typeface="Calibri" pitchFamily="34" charset="-120"/>
              </a:rPr>
              <a:t>Maze / Player / Hunter   </a:t>
            </a:r>
            <a:pPr indent="0" marL="0">
              <a:buNone/>
            </a:pPr>
            <a:r>
              <a:rPr lang="en-US" sz="1400" dirty="0">
                <a:solidFill>
                  <a:srgbClr val="E6EDF7"/>
                </a:solidFill>
                <a:latin typeface="Calibri" pitchFamily="34" charset="0"/>
                <a:ea typeface="Calibri" pitchFamily="34" charset="-122"/>
                <a:cs typeface="Calibri" pitchFamily="34" charset="-120"/>
              </a:rPr>
              <a:t>game classes. Maze uses Stack, Hunter uses Queue</a:t>
            </a:r>
            <a:endParaRPr lang="en-US" sz="1400" dirty="0"/>
          </a:p>
        </p:txBody>
      </p:sp>
      <p:sp>
        <p:nvSpPr>
          <p:cNvPr id="9" name="Shape 6"/>
          <p:cNvSpPr/>
          <p:nvPr/>
        </p:nvSpPr>
        <p:spPr>
          <a:xfrm>
            <a:off x="1280160" y="3017520"/>
            <a:ext cx="6583680" cy="685800"/>
          </a:xfrm>
          <a:prstGeom prst="roundRect">
            <a:avLst>
              <a:gd name="adj" fmla="val 10667"/>
            </a:avLst>
          </a:prstGeom>
          <a:solidFill>
            <a:srgbClr val="111827"/>
          </a:solidFill>
          <a:ln w="19050">
            <a:solidFill>
              <a:srgbClr val="00E087"/>
            </a:solidFill>
            <a:prstDash val="solid"/>
          </a:ln>
        </p:spPr>
      </p:sp>
      <p:sp>
        <p:nvSpPr>
          <p:cNvPr id="10" name="Text 7"/>
          <p:cNvSpPr txBox="1"/>
          <p:nvPr/>
        </p:nvSpPr>
        <p:spPr>
          <a:xfrm>
            <a:off x="1463040" y="3017520"/>
            <a:ext cx="6217920" cy="685800"/>
          </a:xfrm>
          <a:prstGeom prst="rect">
            <a:avLst/>
          </a:prstGeom>
          <a:noFill/>
          <a:ln/>
        </p:spPr>
        <p:txBody>
          <a:bodyPr wrap="square" lIns="0" tIns="0" rIns="0" bIns="0" rtlCol="0" anchor="ctr"/>
          <a:lstStyle/>
          <a:p>
            <a:pPr indent="0" marL="0">
              <a:buNone/>
            </a:pPr>
            <a:r>
              <a:rPr lang="en-US" sz="1400" b="1" dirty="0">
                <a:solidFill>
                  <a:srgbClr val="00E087"/>
                </a:solidFill>
                <a:latin typeface="Calibri" pitchFamily="34" charset="0"/>
                <a:ea typeface="Calibri" pitchFamily="34" charset="-122"/>
                <a:cs typeface="Calibri" pitchFamily="34" charset="-120"/>
              </a:rPr>
              <a:t>dsa_lib/Stack.h, Queue.h   </a:t>
            </a:r>
            <a:pPr indent="0" marL="0">
              <a:buNone/>
            </a:pPr>
            <a:r>
              <a:rPr lang="en-US" sz="1400" dirty="0">
                <a:solidFill>
                  <a:srgbClr val="E6EDF7"/>
                </a:solidFill>
                <a:latin typeface="Calibri" pitchFamily="34" charset="0"/>
                <a:ea typeface="Calibri" pitchFamily="34" charset="-122"/>
                <a:cs typeface="Calibri" pitchFamily="34" charset="-120"/>
              </a:rPr>
              <a:t>our own templated linked-list structures, no STL</a:t>
            </a:r>
            <a:endParaRPr lang="en-US" sz="1400" dirty="0"/>
          </a:p>
        </p:txBody>
      </p:sp>
      <p:sp>
        <p:nvSpPr>
          <p:cNvPr id="11" name="Shape 8"/>
          <p:cNvSpPr/>
          <p:nvPr/>
        </p:nvSpPr>
        <p:spPr>
          <a:xfrm>
            <a:off x="1691640" y="3840480"/>
            <a:ext cx="5760720" cy="685800"/>
          </a:xfrm>
          <a:prstGeom prst="roundRect">
            <a:avLst>
              <a:gd name="adj" fmla="val 10667"/>
            </a:avLst>
          </a:prstGeom>
          <a:solidFill>
            <a:srgbClr val="111827"/>
          </a:solidFill>
          <a:ln w="19050">
            <a:solidFill>
              <a:srgbClr val="8B98B0"/>
            </a:solidFill>
            <a:prstDash val="solid"/>
          </a:ln>
        </p:spPr>
      </p:sp>
      <p:sp>
        <p:nvSpPr>
          <p:cNvPr id="12" name="Text 9"/>
          <p:cNvSpPr txBox="1"/>
          <p:nvPr/>
        </p:nvSpPr>
        <p:spPr>
          <a:xfrm>
            <a:off x="1874520" y="3840480"/>
            <a:ext cx="5394960" cy="685800"/>
          </a:xfrm>
          <a:prstGeom prst="rect">
            <a:avLst/>
          </a:prstGeom>
          <a:noFill/>
          <a:ln/>
        </p:spPr>
        <p:txBody>
          <a:bodyPr wrap="square" lIns="0" tIns="0" rIns="0" bIns="0" rtlCol="0" anchor="ctr"/>
          <a:lstStyle/>
          <a:p>
            <a:pPr indent="0" marL="0">
              <a:buNone/>
            </a:pPr>
            <a:r>
              <a:rPr lang="en-US" sz="1400" b="1" dirty="0">
                <a:solidFill>
                  <a:srgbClr val="8B98B0"/>
                </a:solidFill>
                <a:latin typeface="Calibri" pitchFamily="34" charset="0"/>
                <a:ea typeface="Calibri" pitchFamily="34" charset="-122"/>
                <a:cs typeface="Calibri" pitchFamily="34" charset="-120"/>
              </a:rPr>
              <a:t>SFML   </a:t>
            </a:r>
            <a:pPr indent="0" marL="0">
              <a:buNone/>
            </a:pPr>
            <a:r>
              <a:rPr lang="en-US" sz="1400" dirty="0">
                <a:solidFill>
                  <a:srgbClr val="E6EDF7"/>
                </a:solidFill>
                <a:latin typeface="Calibri" pitchFamily="34" charset="0"/>
                <a:ea typeface="Calibri" pitchFamily="34" charset="-122"/>
                <a:cs typeface="Calibri" pitchFamily="34" charset="-120"/>
              </a:rPr>
              <a:t>window, shapes, keyboard (RenderUtils.h for drawing)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Data Structure 1: Stack (LIFO)</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Used in Maze::generate() for iterative DFS</a:t>
            </a:r>
            <a:endParaRPr lang="en-US" sz="1400" dirty="0"/>
          </a:p>
        </p:txBody>
      </p:sp>
      <p:sp>
        <p:nvSpPr>
          <p:cNvPr id="5" name="Shape 2"/>
          <p:cNvSpPr/>
          <p:nvPr/>
        </p:nvSpPr>
        <p:spPr>
          <a:xfrm>
            <a:off x="640080" y="1371600"/>
            <a:ext cx="2377440" cy="548640"/>
          </a:xfrm>
          <a:prstGeom prst="rect">
            <a:avLst/>
          </a:prstGeom>
          <a:solidFill>
            <a:srgbClr val="111827"/>
          </a:solidFill>
          <a:ln w="19050">
            <a:solidFill>
              <a:srgbClr val="00E087"/>
            </a:solidFill>
            <a:prstDash val="solid"/>
          </a:ln>
        </p:spPr>
      </p:sp>
      <p:sp>
        <p:nvSpPr>
          <p:cNvPr id="6" name="Text 3"/>
          <p:cNvSpPr txBox="1"/>
          <p:nvPr/>
        </p:nvSpPr>
        <p:spPr>
          <a:xfrm>
            <a:off x="640080" y="1371600"/>
            <a:ext cx="2377440" cy="548640"/>
          </a:xfrm>
          <a:prstGeom prst="rect">
            <a:avLst/>
          </a:prstGeom>
          <a:noFill/>
          <a:ln/>
        </p:spPr>
        <p:txBody>
          <a:bodyPr wrap="square" lIns="0" tIns="0" rIns="0" bIns="0" rtlCol="0" anchor="ctr"/>
          <a:lstStyle/>
          <a:p>
            <a:pPr algn="ctr" indent="0" marL="0">
              <a:buNone/>
            </a:pPr>
            <a:r>
              <a:rPr lang="en-US" sz="1400" b="1" dirty="0">
                <a:solidFill>
                  <a:srgbClr val="00E087"/>
                </a:solidFill>
                <a:latin typeface="Courier New" pitchFamily="34" charset="0"/>
                <a:ea typeface="Courier New" pitchFamily="34" charset="-122"/>
                <a:cs typeface="Courier New" pitchFamily="34" charset="-120"/>
              </a:rPr>
              <a:t>(9,7)  &lt;- top</a:t>
            </a:r>
            <a:endParaRPr lang="en-US" sz="1400" dirty="0"/>
          </a:p>
        </p:txBody>
      </p:sp>
      <p:sp>
        <p:nvSpPr>
          <p:cNvPr id="7" name="Shape 4"/>
          <p:cNvSpPr/>
          <p:nvPr/>
        </p:nvSpPr>
        <p:spPr>
          <a:xfrm>
            <a:off x="640080" y="2057400"/>
            <a:ext cx="2377440" cy="548640"/>
          </a:xfrm>
          <a:prstGeom prst="rect">
            <a:avLst/>
          </a:prstGeom>
          <a:solidFill>
            <a:srgbClr val="111827"/>
          </a:solidFill>
          <a:ln w="19050">
            <a:solidFill>
              <a:srgbClr val="00E5FF"/>
            </a:solidFill>
            <a:prstDash val="solid"/>
          </a:ln>
        </p:spPr>
      </p:sp>
      <p:sp>
        <p:nvSpPr>
          <p:cNvPr id="8" name="Text 5"/>
          <p:cNvSpPr txBox="1"/>
          <p:nvPr/>
        </p:nvSpPr>
        <p:spPr>
          <a:xfrm>
            <a:off x="640080" y="2057400"/>
            <a:ext cx="237744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(9,5)</a:t>
            </a:r>
            <a:endParaRPr lang="en-US" sz="1400" dirty="0"/>
          </a:p>
        </p:txBody>
      </p:sp>
      <p:sp>
        <p:nvSpPr>
          <p:cNvPr id="9" name="Shape 6"/>
          <p:cNvSpPr/>
          <p:nvPr/>
        </p:nvSpPr>
        <p:spPr>
          <a:xfrm>
            <a:off x="640080" y="2743200"/>
            <a:ext cx="2377440" cy="548640"/>
          </a:xfrm>
          <a:prstGeom prst="rect">
            <a:avLst/>
          </a:prstGeom>
          <a:solidFill>
            <a:srgbClr val="111827"/>
          </a:solidFill>
          <a:ln w="19050">
            <a:solidFill>
              <a:srgbClr val="00E5FF"/>
            </a:solidFill>
            <a:prstDash val="solid"/>
          </a:ln>
        </p:spPr>
      </p:sp>
      <p:sp>
        <p:nvSpPr>
          <p:cNvPr id="10" name="Text 7"/>
          <p:cNvSpPr txBox="1"/>
          <p:nvPr/>
        </p:nvSpPr>
        <p:spPr>
          <a:xfrm>
            <a:off x="640080" y="2743200"/>
            <a:ext cx="237744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(7,5)</a:t>
            </a:r>
            <a:endParaRPr lang="en-US" sz="1400" dirty="0"/>
          </a:p>
        </p:txBody>
      </p:sp>
      <p:sp>
        <p:nvSpPr>
          <p:cNvPr id="11" name="Shape 8"/>
          <p:cNvSpPr/>
          <p:nvPr/>
        </p:nvSpPr>
        <p:spPr>
          <a:xfrm>
            <a:off x="640080" y="3429000"/>
            <a:ext cx="2377440" cy="548640"/>
          </a:xfrm>
          <a:prstGeom prst="rect">
            <a:avLst/>
          </a:prstGeom>
          <a:solidFill>
            <a:srgbClr val="111827"/>
          </a:solidFill>
          <a:ln w="19050">
            <a:solidFill>
              <a:srgbClr val="00E5FF"/>
            </a:solidFill>
            <a:prstDash val="solid"/>
          </a:ln>
        </p:spPr>
      </p:sp>
      <p:sp>
        <p:nvSpPr>
          <p:cNvPr id="12" name="Text 9"/>
          <p:cNvSpPr txBox="1"/>
          <p:nvPr/>
        </p:nvSpPr>
        <p:spPr>
          <a:xfrm>
            <a:off x="640080" y="3429000"/>
            <a:ext cx="237744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(1,1)  start</a:t>
            </a:r>
            <a:endParaRPr lang="en-US" sz="1400" dirty="0"/>
          </a:p>
        </p:txBody>
      </p:sp>
      <p:sp>
        <p:nvSpPr>
          <p:cNvPr id="13" name="Text 10"/>
          <p:cNvSpPr txBox="1"/>
          <p:nvPr/>
        </p:nvSpPr>
        <p:spPr>
          <a:xfrm>
            <a:off x="457200" y="4206240"/>
            <a:ext cx="2926080" cy="365760"/>
          </a:xfrm>
          <a:prstGeom prst="rect">
            <a:avLst/>
          </a:prstGeom>
          <a:noFill/>
          <a:ln/>
        </p:spPr>
        <p:txBody>
          <a:bodyPr wrap="square" lIns="0" tIns="0" rIns="0" bIns="0" rtlCol="0" anchor="ctr"/>
          <a:lstStyle/>
          <a:p>
            <a:pPr algn="ctr" indent="0" marL="0">
              <a:buNone/>
            </a:pPr>
            <a:r>
              <a:rPr lang="en-US" sz="1200" dirty="0">
                <a:solidFill>
                  <a:srgbClr val="8B98B0"/>
                </a:solidFill>
                <a:latin typeface="Calibri" pitchFamily="34" charset="0"/>
                <a:ea typeface="Calibri" pitchFamily="34" charset="-122"/>
                <a:cs typeface="Calibri" pitchFamily="34" charset="-120"/>
              </a:rPr>
              <a:t>push / pop at the top only: O(1)</a:t>
            </a:r>
            <a:endParaRPr lang="en-US" sz="1200" dirty="0"/>
          </a:p>
        </p:txBody>
      </p:sp>
      <p:sp>
        <p:nvSpPr>
          <p:cNvPr id="14" name="Text 11"/>
          <p:cNvSpPr txBox="1"/>
          <p:nvPr/>
        </p:nvSpPr>
        <p:spPr>
          <a:xfrm>
            <a:off x="3657600" y="1371600"/>
            <a:ext cx="502920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7"/>
                </a:solidFill>
                <a:latin typeface="Calibri" pitchFamily="34" charset="0"/>
                <a:ea typeface="Calibri" pitchFamily="34" charset="-122"/>
                <a:cs typeface="Calibri" pitchFamily="34" charset="-120"/>
              </a:rPr>
              <a:t>Stores (row, col) of each carved cell. Start (1,1) is pushed first.</a:t>
            </a:r>
            <a:endParaRPr lang="en-US" sz="1400" dirty="0"/>
          </a:p>
          <a:p>
            <a:pPr marL="342900" indent="-342900">
              <a:spcAft>
                <a:spcPts val="800"/>
              </a:spcAft>
              <a:buSzPct val="100000"/>
              <a:buChar char="•"/>
            </a:pPr>
            <a:r>
              <a:rPr lang="en-US" sz="1400" dirty="0">
                <a:solidFill>
                  <a:srgbClr val="E6EDF7"/>
                </a:solidFill>
                <a:latin typeface="Calibri" pitchFamily="34" charset="0"/>
                <a:ea typeface="Calibri" pitchFamily="34" charset="-122"/>
                <a:cs typeface="Calibri" pitchFamily="34" charset="-120"/>
              </a:rPr>
              <a:t>Dead end? Pop back to the most recent cell that still has options. That is exactly LIFO.</a:t>
            </a:r>
            <a:endParaRPr lang="en-US" sz="1400" dirty="0"/>
          </a:p>
          <a:p>
            <a:pPr marL="342900" indent="-342900">
              <a:spcAft>
                <a:spcPts val="800"/>
              </a:spcAft>
              <a:buSzPct val="100000"/>
              <a:buChar char="•"/>
            </a:pPr>
            <a:r>
              <a:rPr lang="en-US" sz="1400" dirty="0">
                <a:solidFill>
                  <a:srgbClr val="E6EDF7"/>
                </a:solidFill>
                <a:latin typeface="Calibri" pitchFamily="34" charset="0"/>
                <a:ea typeface="Calibri" pitchFamily="34" charset="-122"/>
                <a:cs typeface="Calibri" pitchFamily="34" charset="-120"/>
              </a:rPr>
              <a:t>Explicit stack instead of recursion: no call-depth risk, memory under our control.</a:t>
            </a:r>
            <a:endParaRPr lang="en-US" sz="1400" dirty="0"/>
          </a:p>
          <a:p>
            <a:pPr marL="342900" indent="-342900">
              <a:spcAft>
                <a:spcPts val="800"/>
              </a:spcAft>
              <a:buSzPct val="100000"/>
              <a:buChar char="•"/>
            </a:pPr>
            <a:r>
              <a:rPr lang="en-US" sz="1400" dirty="0">
                <a:solidFill>
                  <a:srgbClr val="E6EDF7"/>
                </a:solidFill>
                <a:latin typeface="Calibri" pitchFamily="34" charset="0"/>
                <a:ea typeface="Calibri" pitchFamily="34" charset="-122"/>
                <a:cs typeface="Calibri" pitchFamily="34" charset="-120"/>
              </a:rPr>
              <a:t>Result: a perfect maze with one path between any two cells. Each cell pushed and popped once, so O(R x 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Maze Generation, Step by Step</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Stack-driven carving, then braiding</a:t>
            </a:r>
            <a:endParaRPr lang="en-US" sz="1400" dirty="0"/>
          </a:p>
        </p:txBody>
      </p:sp>
      <p:sp>
        <p:nvSpPr>
          <p:cNvPr id="5" name="Shape 2"/>
          <p:cNvSpPr/>
          <p:nvPr/>
        </p:nvSpPr>
        <p:spPr>
          <a:xfrm>
            <a:off x="960120" y="1554480"/>
            <a:ext cx="640080" cy="640080"/>
          </a:xfrm>
          <a:prstGeom prst="ellipse">
            <a:avLst/>
          </a:prstGeom>
          <a:solidFill>
            <a:srgbClr val="00E087"/>
          </a:solidFill>
          <a:ln w="12700">
            <a:solidFill>
              <a:srgbClr val="070A12"/>
            </a:solidFill>
            <a:prstDash val="solid"/>
          </a:ln>
        </p:spPr>
      </p:sp>
      <p:sp>
        <p:nvSpPr>
          <p:cNvPr id="6" name="Text 3"/>
          <p:cNvSpPr txBox="1"/>
          <p:nvPr/>
        </p:nvSpPr>
        <p:spPr>
          <a:xfrm>
            <a:off x="960120" y="1554480"/>
            <a:ext cx="640080" cy="640080"/>
          </a:xfrm>
          <a:prstGeom prst="rect">
            <a:avLst/>
          </a:prstGeom>
          <a:noFill/>
          <a:ln/>
        </p:spPr>
        <p:txBody>
          <a:bodyPr wrap="square" lIns="0" tIns="0" rIns="0" bIns="0" rtlCol="0" anchor="ctr"/>
          <a:lstStyle/>
          <a:p>
            <a:pPr algn="ctr" indent="0" marL="0">
              <a:buNone/>
            </a:pPr>
            <a:r>
              <a:rPr lang="en-US" sz="2000" b="1" dirty="0">
                <a:solidFill>
                  <a:srgbClr val="070A12"/>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457200" y="2377440"/>
            <a:ext cx="1645920" cy="365760"/>
          </a:xfrm>
          <a:prstGeom prst="rect">
            <a:avLst/>
          </a:prstGeom>
          <a:noFill/>
          <a:ln/>
        </p:spPr>
        <p:txBody>
          <a:bodyPr wrap="square" lIns="0" tIns="0" rIns="0" bIns="0" rtlCol="0" anchor="ctr"/>
          <a:lstStyle/>
          <a:p>
            <a:pPr algn="ctr" indent="0" marL="0">
              <a:buNone/>
            </a:pPr>
            <a:r>
              <a:rPr lang="en-US" sz="1600" b="1" dirty="0">
                <a:solidFill>
                  <a:srgbClr val="E6EDF7"/>
                </a:solidFill>
                <a:latin typeface="Calibri" pitchFamily="34" charset="0"/>
                <a:ea typeface="Calibri" pitchFamily="34" charset="-122"/>
                <a:cs typeface="Calibri" pitchFamily="34" charset="-120"/>
              </a:rPr>
              <a:t>Init</a:t>
            </a:r>
            <a:endParaRPr lang="en-US" sz="1600" dirty="0"/>
          </a:p>
        </p:txBody>
      </p:sp>
      <p:sp>
        <p:nvSpPr>
          <p:cNvPr id="8" name="Text 5"/>
          <p:cNvSpPr txBox="1"/>
          <p:nvPr/>
        </p:nvSpPr>
        <p:spPr>
          <a:xfrm>
            <a:off x="502920" y="2788920"/>
            <a:ext cx="1554480" cy="914400"/>
          </a:xfrm>
          <a:prstGeom prst="rect">
            <a:avLst/>
          </a:prstGeom>
          <a:noFill/>
          <a:ln/>
        </p:spPr>
        <p:txBody>
          <a:bodyPr wrap="square" lIns="0" tIns="0" rIns="0" bIns="0" rtlCol="0" anchor="t"/>
          <a:lstStyle/>
          <a:p>
            <a:pPr algn="ctr" indent="0" marL="0">
              <a:buNone/>
            </a:pPr>
            <a:r>
              <a:rPr lang="en-US" sz="1200" dirty="0">
                <a:solidFill>
                  <a:srgbClr val="8B98B0"/>
                </a:solidFill>
                <a:latin typeface="Calibri" pitchFamily="34" charset="0"/>
                <a:ea typeface="Calibri" pitchFamily="34" charset="-122"/>
                <a:cs typeface="Calibri" pitchFamily="34" charset="-120"/>
              </a:rPr>
              <a:t>All walls. Push (1,1).</a:t>
            </a:r>
            <a:endParaRPr lang="en-US" sz="1200" dirty="0"/>
          </a:p>
        </p:txBody>
      </p:sp>
      <p:sp>
        <p:nvSpPr>
          <p:cNvPr id="9" name="Shape 6"/>
          <p:cNvSpPr/>
          <p:nvPr/>
        </p:nvSpPr>
        <p:spPr>
          <a:xfrm>
            <a:off x="2651760" y="1554480"/>
            <a:ext cx="640080" cy="640080"/>
          </a:xfrm>
          <a:prstGeom prst="ellipse">
            <a:avLst/>
          </a:prstGeom>
          <a:solidFill>
            <a:srgbClr val="00E087"/>
          </a:solidFill>
          <a:ln w="12700">
            <a:solidFill>
              <a:srgbClr val="070A12"/>
            </a:solidFill>
            <a:prstDash val="solid"/>
          </a:ln>
        </p:spPr>
      </p:sp>
      <p:sp>
        <p:nvSpPr>
          <p:cNvPr id="10" name="Text 7"/>
          <p:cNvSpPr txBox="1"/>
          <p:nvPr/>
        </p:nvSpPr>
        <p:spPr>
          <a:xfrm>
            <a:off x="2651760" y="1554480"/>
            <a:ext cx="640080" cy="640080"/>
          </a:xfrm>
          <a:prstGeom prst="rect">
            <a:avLst/>
          </a:prstGeom>
          <a:noFill/>
          <a:ln/>
        </p:spPr>
        <p:txBody>
          <a:bodyPr wrap="square" lIns="0" tIns="0" rIns="0" bIns="0" rtlCol="0" anchor="ctr"/>
          <a:lstStyle/>
          <a:p>
            <a:pPr algn="ctr" indent="0" marL="0">
              <a:buNone/>
            </a:pPr>
            <a:r>
              <a:rPr lang="en-US" sz="2000" b="1" dirty="0">
                <a:solidFill>
                  <a:srgbClr val="070A12"/>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2148840" y="2377440"/>
            <a:ext cx="1645920" cy="365760"/>
          </a:xfrm>
          <a:prstGeom prst="rect">
            <a:avLst/>
          </a:prstGeom>
          <a:noFill/>
          <a:ln/>
        </p:spPr>
        <p:txBody>
          <a:bodyPr wrap="square" lIns="0" tIns="0" rIns="0" bIns="0" rtlCol="0" anchor="ctr"/>
          <a:lstStyle/>
          <a:p>
            <a:pPr algn="ctr" indent="0" marL="0">
              <a:buNone/>
            </a:pPr>
            <a:r>
              <a:rPr lang="en-US" sz="1600" b="1" dirty="0">
                <a:solidFill>
                  <a:srgbClr val="E6EDF7"/>
                </a:solidFill>
                <a:latin typeface="Calibri" pitchFamily="34" charset="0"/>
                <a:ea typeface="Calibri" pitchFamily="34" charset="-122"/>
                <a:cs typeface="Calibri" pitchFamily="34" charset="-120"/>
              </a:rPr>
              <a:t>Peek</a:t>
            </a:r>
            <a:endParaRPr lang="en-US" sz="1600" dirty="0"/>
          </a:p>
        </p:txBody>
      </p:sp>
      <p:sp>
        <p:nvSpPr>
          <p:cNvPr id="12" name="Text 9"/>
          <p:cNvSpPr txBox="1"/>
          <p:nvPr/>
        </p:nvSpPr>
        <p:spPr>
          <a:xfrm>
            <a:off x="2194560" y="2788920"/>
            <a:ext cx="1554480" cy="914400"/>
          </a:xfrm>
          <a:prstGeom prst="rect">
            <a:avLst/>
          </a:prstGeom>
          <a:noFill/>
          <a:ln/>
        </p:spPr>
        <p:txBody>
          <a:bodyPr wrap="square" lIns="0" tIns="0" rIns="0" bIns="0" rtlCol="0" anchor="t"/>
          <a:lstStyle/>
          <a:p>
            <a:pPr algn="ctr" indent="0" marL="0">
              <a:buNone/>
            </a:pPr>
            <a:r>
              <a:rPr lang="en-US" sz="1200" dirty="0">
                <a:solidFill>
                  <a:srgbClr val="8B98B0"/>
                </a:solidFill>
                <a:latin typeface="Calibri" pitchFamily="34" charset="0"/>
                <a:ea typeface="Calibri" pitchFamily="34" charset="-122"/>
                <a:cs typeface="Calibri" pitchFamily="34" charset="-120"/>
              </a:rPr>
              <a:t>Top cell. List wall cells 2 steps away.</a:t>
            </a:r>
            <a:endParaRPr lang="en-US" sz="1200" dirty="0"/>
          </a:p>
        </p:txBody>
      </p:sp>
      <p:sp>
        <p:nvSpPr>
          <p:cNvPr id="13" name="Shape 10"/>
          <p:cNvSpPr/>
          <p:nvPr/>
        </p:nvSpPr>
        <p:spPr>
          <a:xfrm>
            <a:off x="4343400" y="1554480"/>
            <a:ext cx="640080" cy="640080"/>
          </a:xfrm>
          <a:prstGeom prst="ellipse">
            <a:avLst/>
          </a:prstGeom>
          <a:solidFill>
            <a:srgbClr val="00E087"/>
          </a:solidFill>
          <a:ln w="12700">
            <a:solidFill>
              <a:srgbClr val="070A12"/>
            </a:solidFill>
            <a:prstDash val="solid"/>
          </a:ln>
        </p:spPr>
      </p:sp>
      <p:sp>
        <p:nvSpPr>
          <p:cNvPr id="14" name="Text 11"/>
          <p:cNvSpPr txBox="1"/>
          <p:nvPr/>
        </p:nvSpPr>
        <p:spPr>
          <a:xfrm>
            <a:off x="4343400" y="1554480"/>
            <a:ext cx="640080" cy="640080"/>
          </a:xfrm>
          <a:prstGeom prst="rect">
            <a:avLst/>
          </a:prstGeom>
          <a:noFill/>
          <a:ln/>
        </p:spPr>
        <p:txBody>
          <a:bodyPr wrap="square" lIns="0" tIns="0" rIns="0" bIns="0" rtlCol="0" anchor="ctr"/>
          <a:lstStyle/>
          <a:p>
            <a:pPr algn="ctr" indent="0" marL="0">
              <a:buNone/>
            </a:pPr>
            <a:r>
              <a:rPr lang="en-US" sz="2000" b="1" dirty="0">
                <a:solidFill>
                  <a:srgbClr val="070A12"/>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3840480" y="2377440"/>
            <a:ext cx="1645920" cy="365760"/>
          </a:xfrm>
          <a:prstGeom prst="rect">
            <a:avLst/>
          </a:prstGeom>
          <a:noFill/>
          <a:ln/>
        </p:spPr>
        <p:txBody>
          <a:bodyPr wrap="square" lIns="0" tIns="0" rIns="0" bIns="0" rtlCol="0" anchor="ctr"/>
          <a:lstStyle/>
          <a:p>
            <a:pPr algn="ctr" indent="0" marL="0">
              <a:buNone/>
            </a:pPr>
            <a:r>
              <a:rPr lang="en-US" sz="1600" b="1" dirty="0">
                <a:solidFill>
                  <a:srgbClr val="E6EDF7"/>
                </a:solidFill>
                <a:latin typeface="Calibri" pitchFamily="34" charset="0"/>
                <a:ea typeface="Calibri" pitchFamily="34" charset="-122"/>
                <a:cs typeface="Calibri" pitchFamily="34" charset="-120"/>
              </a:rPr>
              <a:t>Carve</a:t>
            </a:r>
            <a:endParaRPr lang="en-US" sz="1600" dirty="0"/>
          </a:p>
        </p:txBody>
      </p:sp>
      <p:sp>
        <p:nvSpPr>
          <p:cNvPr id="16" name="Text 13"/>
          <p:cNvSpPr txBox="1"/>
          <p:nvPr/>
        </p:nvSpPr>
        <p:spPr>
          <a:xfrm>
            <a:off x="3886200" y="2788920"/>
            <a:ext cx="1554480" cy="914400"/>
          </a:xfrm>
          <a:prstGeom prst="rect">
            <a:avLst/>
          </a:prstGeom>
          <a:noFill/>
          <a:ln/>
        </p:spPr>
        <p:txBody>
          <a:bodyPr wrap="square" lIns="0" tIns="0" rIns="0" bIns="0" rtlCol="0" anchor="t"/>
          <a:lstStyle/>
          <a:p>
            <a:pPr algn="ctr" indent="0" marL="0">
              <a:buNone/>
            </a:pPr>
            <a:r>
              <a:rPr lang="en-US" sz="1200" dirty="0">
                <a:solidFill>
                  <a:srgbClr val="8B98B0"/>
                </a:solidFill>
                <a:latin typeface="Calibri" pitchFamily="34" charset="0"/>
                <a:ea typeface="Calibri" pitchFamily="34" charset="-122"/>
                <a:cs typeface="Calibri" pitchFamily="34" charset="-120"/>
              </a:rPr>
              <a:t>Open wall between. Push new cell.</a:t>
            </a:r>
            <a:endParaRPr lang="en-US" sz="1200" dirty="0"/>
          </a:p>
        </p:txBody>
      </p:sp>
      <p:sp>
        <p:nvSpPr>
          <p:cNvPr id="17" name="Shape 14"/>
          <p:cNvSpPr/>
          <p:nvPr/>
        </p:nvSpPr>
        <p:spPr>
          <a:xfrm>
            <a:off x="6035040" y="1554480"/>
            <a:ext cx="640080" cy="640080"/>
          </a:xfrm>
          <a:prstGeom prst="ellipse">
            <a:avLst/>
          </a:prstGeom>
          <a:solidFill>
            <a:srgbClr val="00E087"/>
          </a:solidFill>
          <a:ln w="12700">
            <a:solidFill>
              <a:srgbClr val="070A12"/>
            </a:solidFill>
            <a:prstDash val="solid"/>
          </a:ln>
        </p:spPr>
      </p:sp>
      <p:sp>
        <p:nvSpPr>
          <p:cNvPr id="18" name="Text 15"/>
          <p:cNvSpPr txBox="1"/>
          <p:nvPr/>
        </p:nvSpPr>
        <p:spPr>
          <a:xfrm>
            <a:off x="6035040" y="1554480"/>
            <a:ext cx="640080" cy="640080"/>
          </a:xfrm>
          <a:prstGeom prst="rect">
            <a:avLst/>
          </a:prstGeom>
          <a:noFill/>
          <a:ln/>
        </p:spPr>
        <p:txBody>
          <a:bodyPr wrap="square" lIns="0" tIns="0" rIns="0" bIns="0" rtlCol="0" anchor="ctr"/>
          <a:lstStyle/>
          <a:p>
            <a:pPr algn="ctr" indent="0" marL="0">
              <a:buNone/>
            </a:pPr>
            <a:r>
              <a:rPr lang="en-US" sz="2000" b="1" dirty="0">
                <a:solidFill>
                  <a:srgbClr val="070A12"/>
                </a:solidFill>
                <a:latin typeface="Calibri" pitchFamily="34" charset="0"/>
                <a:ea typeface="Calibri" pitchFamily="34" charset="-122"/>
                <a:cs typeface="Calibri" pitchFamily="34" charset="-120"/>
              </a:rPr>
              <a:t>4</a:t>
            </a:r>
            <a:endParaRPr lang="en-US" sz="2000" dirty="0"/>
          </a:p>
        </p:txBody>
      </p:sp>
      <p:sp>
        <p:nvSpPr>
          <p:cNvPr id="19" name="Text 16"/>
          <p:cNvSpPr txBox="1"/>
          <p:nvPr/>
        </p:nvSpPr>
        <p:spPr>
          <a:xfrm>
            <a:off x="5532120" y="2377440"/>
            <a:ext cx="1645920" cy="365760"/>
          </a:xfrm>
          <a:prstGeom prst="rect">
            <a:avLst/>
          </a:prstGeom>
          <a:noFill/>
          <a:ln/>
        </p:spPr>
        <p:txBody>
          <a:bodyPr wrap="square" lIns="0" tIns="0" rIns="0" bIns="0" rtlCol="0" anchor="ctr"/>
          <a:lstStyle/>
          <a:p>
            <a:pPr algn="ctr" indent="0" marL="0">
              <a:buNone/>
            </a:pPr>
            <a:r>
              <a:rPr lang="en-US" sz="1600" b="1" dirty="0">
                <a:solidFill>
                  <a:srgbClr val="E6EDF7"/>
                </a:solidFill>
                <a:latin typeface="Calibri" pitchFamily="34" charset="0"/>
                <a:ea typeface="Calibri" pitchFamily="34" charset="-122"/>
                <a:cs typeface="Calibri" pitchFamily="34" charset="-120"/>
              </a:rPr>
              <a:t>Backtrack</a:t>
            </a:r>
            <a:endParaRPr lang="en-US" sz="1600" dirty="0"/>
          </a:p>
        </p:txBody>
      </p:sp>
      <p:sp>
        <p:nvSpPr>
          <p:cNvPr id="20" name="Text 17"/>
          <p:cNvSpPr txBox="1"/>
          <p:nvPr/>
        </p:nvSpPr>
        <p:spPr>
          <a:xfrm>
            <a:off x="5577840" y="2788920"/>
            <a:ext cx="1554480" cy="914400"/>
          </a:xfrm>
          <a:prstGeom prst="rect">
            <a:avLst/>
          </a:prstGeom>
          <a:noFill/>
          <a:ln/>
        </p:spPr>
        <p:txBody>
          <a:bodyPr wrap="square" lIns="0" tIns="0" rIns="0" bIns="0" rtlCol="0" anchor="t"/>
          <a:lstStyle/>
          <a:p>
            <a:pPr algn="ctr" indent="0" marL="0">
              <a:buNone/>
            </a:pPr>
            <a:r>
              <a:rPr lang="en-US" sz="1200" dirty="0">
                <a:solidFill>
                  <a:srgbClr val="8B98B0"/>
                </a:solidFill>
                <a:latin typeface="Calibri" pitchFamily="34" charset="0"/>
                <a:ea typeface="Calibri" pitchFamily="34" charset="-122"/>
                <a:cs typeface="Calibri" pitchFamily="34" charset="-120"/>
              </a:rPr>
              <a:t>No options: pop, resume older cell.</a:t>
            </a:r>
            <a:endParaRPr lang="en-US" sz="1200" dirty="0"/>
          </a:p>
        </p:txBody>
      </p:sp>
      <p:sp>
        <p:nvSpPr>
          <p:cNvPr id="21" name="Shape 18"/>
          <p:cNvSpPr/>
          <p:nvPr/>
        </p:nvSpPr>
        <p:spPr>
          <a:xfrm>
            <a:off x="7726680" y="1554480"/>
            <a:ext cx="640080" cy="640080"/>
          </a:xfrm>
          <a:prstGeom prst="ellipse">
            <a:avLst/>
          </a:prstGeom>
          <a:solidFill>
            <a:srgbClr val="FFB020"/>
          </a:solidFill>
          <a:ln w="12700">
            <a:solidFill>
              <a:srgbClr val="070A12"/>
            </a:solidFill>
            <a:prstDash val="solid"/>
          </a:ln>
        </p:spPr>
      </p:sp>
      <p:sp>
        <p:nvSpPr>
          <p:cNvPr id="22" name="Text 19"/>
          <p:cNvSpPr txBox="1"/>
          <p:nvPr/>
        </p:nvSpPr>
        <p:spPr>
          <a:xfrm>
            <a:off x="7726680" y="1554480"/>
            <a:ext cx="640080" cy="640080"/>
          </a:xfrm>
          <a:prstGeom prst="rect">
            <a:avLst/>
          </a:prstGeom>
          <a:noFill/>
          <a:ln/>
        </p:spPr>
        <p:txBody>
          <a:bodyPr wrap="square" lIns="0" tIns="0" rIns="0" bIns="0" rtlCol="0" anchor="ctr"/>
          <a:lstStyle/>
          <a:p>
            <a:pPr algn="ctr" indent="0" marL="0">
              <a:buNone/>
            </a:pPr>
            <a:r>
              <a:rPr lang="en-US" sz="2000" b="1" dirty="0">
                <a:solidFill>
                  <a:srgbClr val="070A12"/>
                </a:solidFill>
                <a:latin typeface="Calibri" pitchFamily="34" charset="0"/>
                <a:ea typeface="Calibri" pitchFamily="34" charset="-122"/>
                <a:cs typeface="Calibri" pitchFamily="34" charset="-120"/>
              </a:rPr>
              <a:t>5</a:t>
            </a:r>
            <a:endParaRPr lang="en-US" sz="2000" dirty="0"/>
          </a:p>
        </p:txBody>
      </p:sp>
      <p:sp>
        <p:nvSpPr>
          <p:cNvPr id="23" name="Text 20"/>
          <p:cNvSpPr txBox="1"/>
          <p:nvPr/>
        </p:nvSpPr>
        <p:spPr>
          <a:xfrm>
            <a:off x="7223760" y="2377440"/>
            <a:ext cx="1645920" cy="365760"/>
          </a:xfrm>
          <a:prstGeom prst="rect">
            <a:avLst/>
          </a:prstGeom>
          <a:noFill/>
          <a:ln/>
        </p:spPr>
        <p:txBody>
          <a:bodyPr wrap="square" lIns="0" tIns="0" rIns="0" bIns="0" rtlCol="0" anchor="ctr"/>
          <a:lstStyle/>
          <a:p>
            <a:pPr algn="ctr" indent="0" marL="0">
              <a:buNone/>
            </a:pPr>
            <a:r>
              <a:rPr lang="en-US" sz="1600" b="1" dirty="0">
                <a:solidFill>
                  <a:srgbClr val="E6EDF7"/>
                </a:solidFill>
                <a:latin typeface="Calibri" pitchFamily="34" charset="0"/>
                <a:ea typeface="Calibri" pitchFamily="34" charset="-122"/>
                <a:cs typeface="Calibri" pitchFamily="34" charset="-120"/>
              </a:rPr>
              <a:t>Braid</a:t>
            </a:r>
            <a:endParaRPr lang="en-US" sz="1600" dirty="0"/>
          </a:p>
        </p:txBody>
      </p:sp>
      <p:sp>
        <p:nvSpPr>
          <p:cNvPr id="24" name="Text 21"/>
          <p:cNvSpPr txBox="1"/>
          <p:nvPr/>
        </p:nvSpPr>
        <p:spPr>
          <a:xfrm>
            <a:off x="7269480" y="2788920"/>
            <a:ext cx="1554480" cy="914400"/>
          </a:xfrm>
          <a:prstGeom prst="rect">
            <a:avLst/>
          </a:prstGeom>
          <a:noFill/>
          <a:ln/>
        </p:spPr>
        <p:txBody>
          <a:bodyPr wrap="square" lIns="0" tIns="0" rIns="0" bIns="0" rtlCol="0" anchor="t"/>
          <a:lstStyle/>
          <a:p>
            <a:pPr algn="ctr" indent="0" marL="0">
              <a:buNone/>
            </a:pPr>
            <a:r>
              <a:rPr lang="en-US" sz="1200" dirty="0">
                <a:solidFill>
                  <a:srgbClr val="8B98B0"/>
                </a:solidFill>
                <a:latin typeface="Calibri" pitchFamily="34" charset="0"/>
                <a:ea typeface="Calibri" pitchFamily="34" charset="-122"/>
                <a:cs typeface="Calibri" pitchFamily="34" charset="-120"/>
              </a:rPr>
              <a:t>Remove 18% of eligible walls for loops.</a:t>
            </a:r>
            <a:endParaRPr lang="en-US" sz="1200" dirty="0"/>
          </a:p>
        </p:txBody>
      </p:sp>
      <p:sp>
        <p:nvSpPr>
          <p:cNvPr id="25" name="Text 22"/>
          <p:cNvSpPr txBox="1"/>
          <p:nvPr/>
        </p:nvSpPr>
        <p:spPr>
          <a:xfrm>
            <a:off x="457200" y="4114800"/>
            <a:ext cx="8229600" cy="457200"/>
          </a:xfrm>
          <a:prstGeom prst="rect">
            <a:avLst/>
          </a:prstGeom>
          <a:noFill/>
          <a:ln/>
        </p:spPr>
        <p:txBody>
          <a:bodyPr wrap="square" lIns="0" tIns="0" rIns="0" bIns="0" rtlCol="0" anchor="ctr"/>
          <a:lstStyle/>
          <a:p>
            <a:pPr algn="ctr" indent="0" marL="0">
              <a:buNone/>
            </a:pPr>
            <a:r>
              <a:rPr lang="en-US" sz="1300" i="1" dirty="0">
                <a:solidFill>
                  <a:srgbClr val="00E5FF"/>
                </a:solidFill>
                <a:latin typeface="Calibri" pitchFamily="34" charset="0"/>
                <a:ea typeface="Calibri" pitchFamily="34" charset="-122"/>
                <a:cs typeface="Calibri" pitchFamily="34" charset="-120"/>
              </a:rPr>
              <a:t>Step size 2 keeps a wall cell between rooms. Grid is odd-sized (39x39) so the border stays wall.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Data Structure 2: Queue (FIFO)</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Used in Hunter::step() for BFS pursuit</a:t>
            </a:r>
            <a:endParaRPr lang="en-US" sz="1400" dirty="0"/>
          </a:p>
        </p:txBody>
      </p:sp>
      <p:sp>
        <p:nvSpPr>
          <p:cNvPr id="5" name="Shape 2"/>
          <p:cNvSpPr/>
          <p:nvPr/>
        </p:nvSpPr>
        <p:spPr>
          <a:xfrm>
            <a:off x="640080" y="1371600"/>
            <a:ext cx="1188720" cy="548640"/>
          </a:xfrm>
          <a:prstGeom prst="rect">
            <a:avLst/>
          </a:prstGeom>
          <a:solidFill>
            <a:srgbClr val="111827"/>
          </a:solidFill>
          <a:ln w="19050">
            <a:solidFill>
              <a:srgbClr val="00E087"/>
            </a:solidFill>
            <a:prstDash val="solid"/>
          </a:ln>
        </p:spPr>
      </p:sp>
      <p:sp>
        <p:nvSpPr>
          <p:cNvPr id="6" name="Text 3"/>
          <p:cNvSpPr txBox="1"/>
          <p:nvPr/>
        </p:nvSpPr>
        <p:spPr>
          <a:xfrm>
            <a:off x="640080" y="1371600"/>
            <a:ext cx="1188720" cy="548640"/>
          </a:xfrm>
          <a:prstGeom prst="rect">
            <a:avLst/>
          </a:prstGeom>
          <a:noFill/>
          <a:ln/>
        </p:spPr>
        <p:txBody>
          <a:bodyPr wrap="square" lIns="0" tIns="0" rIns="0" bIns="0" rtlCol="0" anchor="ctr"/>
          <a:lstStyle/>
          <a:p>
            <a:pPr algn="ctr" indent="0" marL="0">
              <a:buNone/>
            </a:pPr>
            <a:r>
              <a:rPr lang="en-US" sz="1400" b="1" dirty="0">
                <a:solidFill>
                  <a:srgbClr val="00E087"/>
                </a:solidFill>
                <a:latin typeface="Courier New" pitchFamily="34" charset="0"/>
                <a:ea typeface="Courier New" pitchFamily="34" charset="-122"/>
                <a:cs typeface="Courier New" pitchFamily="34" charset="-120"/>
              </a:rPr>
              <a:t>(5,4)</a:t>
            </a:r>
            <a:endParaRPr lang="en-US" sz="1400" dirty="0"/>
          </a:p>
        </p:txBody>
      </p:sp>
      <p:sp>
        <p:nvSpPr>
          <p:cNvPr id="7" name="Shape 4"/>
          <p:cNvSpPr/>
          <p:nvPr/>
        </p:nvSpPr>
        <p:spPr>
          <a:xfrm>
            <a:off x="2011680" y="1371600"/>
            <a:ext cx="1188720" cy="548640"/>
          </a:xfrm>
          <a:prstGeom prst="rect">
            <a:avLst/>
          </a:prstGeom>
          <a:solidFill>
            <a:srgbClr val="111827"/>
          </a:solidFill>
          <a:ln w="19050">
            <a:solidFill>
              <a:srgbClr val="00E5FF"/>
            </a:solidFill>
            <a:prstDash val="solid"/>
          </a:ln>
        </p:spPr>
      </p:sp>
      <p:sp>
        <p:nvSpPr>
          <p:cNvPr id="8" name="Text 5"/>
          <p:cNvSpPr txBox="1"/>
          <p:nvPr/>
        </p:nvSpPr>
        <p:spPr>
          <a:xfrm>
            <a:off x="2011680" y="1371600"/>
            <a:ext cx="118872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(5,5)</a:t>
            </a:r>
            <a:endParaRPr lang="en-US" sz="1400" dirty="0"/>
          </a:p>
        </p:txBody>
      </p:sp>
      <p:sp>
        <p:nvSpPr>
          <p:cNvPr id="9" name="Shape 6"/>
          <p:cNvSpPr/>
          <p:nvPr/>
        </p:nvSpPr>
        <p:spPr>
          <a:xfrm>
            <a:off x="3383280" y="1371600"/>
            <a:ext cx="1188720" cy="548640"/>
          </a:xfrm>
          <a:prstGeom prst="rect">
            <a:avLst/>
          </a:prstGeom>
          <a:solidFill>
            <a:srgbClr val="111827"/>
          </a:solidFill>
          <a:ln w="19050">
            <a:solidFill>
              <a:srgbClr val="00E5FF"/>
            </a:solidFill>
            <a:prstDash val="solid"/>
          </a:ln>
        </p:spPr>
      </p:sp>
      <p:sp>
        <p:nvSpPr>
          <p:cNvPr id="10" name="Text 7"/>
          <p:cNvSpPr txBox="1"/>
          <p:nvPr/>
        </p:nvSpPr>
        <p:spPr>
          <a:xfrm>
            <a:off x="3383280" y="1371600"/>
            <a:ext cx="118872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(4,5)</a:t>
            </a:r>
            <a:endParaRPr lang="en-US" sz="1400" dirty="0"/>
          </a:p>
        </p:txBody>
      </p:sp>
      <p:sp>
        <p:nvSpPr>
          <p:cNvPr id="11" name="Shape 8"/>
          <p:cNvSpPr/>
          <p:nvPr/>
        </p:nvSpPr>
        <p:spPr>
          <a:xfrm>
            <a:off x="4754880" y="1371600"/>
            <a:ext cx="1188720" cy="548640"/>
          </a:xfrm>
          <a:prstGeom prst="rect">
            <a:avLst/>
          </a:prstGeom>
          <a:solidFill>
            <a:srgbClr val="111827"/>
          </a:solidFill>
          <a:ln w="19050">
            <a:solidFill>
              <a:srgbClr val="00E5FF"/>
            </a:solidFill>
            <a:prstDash val="solid"/>
          </a:ln>
        </p:spPr>
      </p:sp>
      <p:sp>
        <p:nvSpPr>
          <p:cNvPr id="12" name="Text 9"/>
          <p:cNvSpPr txBox="1"/>
          <p:nvPr/>
        </p:nvSpPr>
        <p:spPr>
          <a:xfrm>
            <a:off x="4754880" y="1371600"/>
            <a:ext cx="118872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(6,5)</a:t>
            </a:r>
            <a:endParaRPr lang="en-US" sz="1400" dirty="0"/>
          </a:p>
        </p:txBody>
      </p:sp>
      <p:sp>
        <p:nvSpPr>
          <p:cNvPr id="13" name="Shape 10"/>
          <p:cNvSpPr/>
          <p:nvPr/>
        </p:nvSpPr>
        <p:spPr>
          <a:xfrm>
            <a:off x="6126480" y="1371600"/>
            <a:ext cx="1188720" cy="548640"/>
          </a:xfrm>
          <a:prstGeom prst="rect">
            <a:avLst/>
          </a:prstGeom>
          <a:solidFill>
            <a:srgbClr val="111827"/>
          </a:solidFill>
          <a:ln w="19050">
            <a:solidFill>
              <a:srgbClr val="00E5FF"/>
            </a:solidFill>
            <a:prstDash val="solid"/>
          </a:ln>
        </p:spPr>
      </p:sp>
      <p:sp>
        <p:nvSpPr>
          <p:cNvPr id="14" name="Text 11"/>
          <p:cNvSpPr txBox="1"/>
          <p:nvPr/>
        </p:nvSpPr>
        <p:spPr>
          <a:xfrm>
            <a:off x="6126480" y="1371600"/>
            <a:ext cx="1188720" cy="548640"/>
          </a:xfrm>
          <a:prstGeom prst="rect">
            <a:avLst/>
          </a:prstGeom>
          <a:noFill/>
          <a:ln/>
        </p:spPr>
        <p:txBody>
          <a:bodyPr wrap="square" lIns="0" tIns="0" rIns="0" bIns="0" rtlCol="0" anchor="ctr"/>
          <a:lstStyle/>
          <a:p>
            <a:pPr algn="ctr" indent="0" marL="0">
              <a:buNone/>
            </a:pPr>
            <a:r>
              <a:rPr lang="en-US" sz="1400" b="1" dirty="0">
                <a:solidFill>
                  <a:srgbClr val="00E5FF"/>
                </a:solidFill>
                <a:latin typeface="Courier New" pitchFamily="34" charset="0"/>
                <a:ea typeface="Courier New" pitchFamily="34" charset="-122"/>
                <a:cs typeface="Courier New" pitchFamily="34" charset="-120"/>
              </a:rPr>
              <a:t>(5,6)</a:t>
            </a:r>
            <a:endParaRPr lang="en-US" sz="1400" dirty="0"/>
          </a:p>
        </p:txBody>
      </p:sp>
      <p:sp>
        <p:nvSpPr>
          <p:cNvPr id="15" name="Text 12"/>
          <p:cNvSpPr txBox="1"/>
          <p:nvPr/>
        </p:nvSpPr>
        <p:spPr>
          <a:xfrm>
            <a:off x="640080" y="1965960"/>
            <a:ext cx="1371600" cy="274320"/>
          </a:xfrm>
          <a:prstGeom prst="rect">
            <a:avLst/>
          </a:prstGeom>
          <a:noFill/>
          <a:ln/>
        </p:spPr>
        <p:txBody>
          <a:bodyPr wrap="square" lIns="0" tIns="0" rIns="0" bIns="0" rtlCol="0" anchor="ctr"/>
          <a:lstStyle/>
          <a:p>
            <a:pPr indent="0" marL="0">
              <a:buNone/>
            </a:pPr>
            <a:r>
              <a:rPr lang="en-US" sz="1200" dirty="0">
                <a:solidFill>
                  <a:srgbClr val="00E087"/>
                </a:solidFill>
                <a:latin typeface="Calibri" pitchFamily="34" charset="0"/>
                <a:ea typeface="Calibri" pitchFamily="34" charset="-122"/>
                <a:cs typeface="Calibri" pitchFamily="34" charset="-120"/>
              </a:rPr>
              <a:t>front: dequeue</a:t>
            </a:r>
            <a:endParaRPr lang="en-US" sz="1200" dirty="0"/>
          </a:p>
        </p:txBody>
      </p:sp>
      <p:sp>
        <p:nvSpPr>
          <p:cNvPr id="16" name="Text 13"/>
          <p:cNvSpPr txBox="1"/>
          <p:nvPr/>
        </p:nvSpPr>
        <p:spPr>
          <a:xfrm>
            <a:off x="6309360" y="1965960"/>
            <a:ext cx="1371600" cy="274320"/>
          </a:xfrm>
          <a:prstGeom prst="rect">
            <a:avLst/>
          </a:prstGeom>
          <a:noFill/>
          <a:ln/>
        </p:spPr>
        <p:txBody>
          <a:bodyPr wrap="square" lIns="0" tIns="0" rIns="0" bIns="0" rtlCol="0" anchor="ctr"/>
          <a:lstStyle/>
          <a:p>
            <a:pPr indent="0" marL="0">
              <a:buNone/>
            </a:pPr>
            <a:r>
              <a:rPr lang="en-US" sz="1200" dirty="0">
                <a:solidFill>
                  <a:srgbClr val="00E5FF"/>
                </a:solidFill>
                <a:latin typeface="Calibri" pitchFamily="34" charset="0"/>
                <a:ea typeface="Calibri" pitchFamily="34" charset="-122"/>
                <a:cs typeface="Calibri" pitchFamily="34" charset="-120"/>
              </a:rPr>
              <a:t>back: enqueue</a:t>
            </a:r>
            <a:endParaRPr lang="en-US" sz="1200" dirty="0"/>
          </a:p>
        </p:txBody>
      </p:sp>
      <p:sp>
        <p:nvSpPr>
          <p:cNvPr id="17" name="Shape 14"/>
          <p:cNvSpPr/>
          <p:nvPr/>
        </p:nvSpPr>
        <p:spPr>
          <a:xfrm>
            <a:off x="457200" y="2468880"/>
            <a:ext cx="4023360" cy="960120"/>
          </a:xfrm>
          <a:prstGeom prst="roundRect">
            <a:avLst>
              <a:gd name="adj" fmla="val 7619"/>
            </a:avLst>
          </a:prstGeom>
          <a:solidFill>
            <a:srgbClr val="111827"/>
          </a:solidFill>
          <a:ln w="12700">
            <a:solidFill>
              <a:srgbClr val="00E5FF"/>
            </a:solidFill>
            <a:prstDash val="solid"/>
          </a:ln>
        </p:spPr>
      </p:sp>
      <p:sp>
        <p:nvSpPr>
          <p:cNvPr id="18" name="Text 15"/>
          <p:cNvSpPr txBox="1"/>
          <p:nvPr/>
        </p:nvSpPr>
        <p:spPr>
          <a:xfrm>
            <a:off x="594360" y="2560320"/>
            <a:ext cx="37490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Expand</a:t>
            </a:r>
            <a:endParaRPr lang="en-US" sz="1500" dirty="0"/>
          </a:p>
        </p:txBody>
      </p:sp>
      <p:sp>
        <p:nvSpPr>
          <p:cNvPr id="19" name="Text 16"/>
          <p:cNvSpPr txBox="1"/>
          <p:nvPr/>
        </p:nvSpPr>
        <p:spPr>
          <a:xfrm>
            <a:off x="594360" y="2907792"/>
            <a:ext cx="3749040" cy="429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Dequeue front. For each open, unvisited neighbour: mark visited, store parent, enqueue.</a:t>
            </a:r>
            <a:endParaRPr lang="en-US" sz="1200" dirty="0"/>
          </a:p>
        </p:txBody>
      </p:sp>
      <p:sp>
        <p:nvSpPr>
          <p:cNvPr id="20" name="Shape 17"/>
          <p:cNvSpPr/>
          <p:nvPr/>
        </p:nvSpPr>
        <p:spPr>
          <a:xfrm>
            <a:off x="4663440" y="2468880"/>
            <a:ext cx="4023360" cy="960120"/>
          </a:xfrm>
          <a:prstGeom prst="roundRect">
            <a:avLst>
              <a:gd name="adj" fmla="val 7619"/>
            </a:avLst>
          </a:prstGeom>
          <a:solidFill>
            <a:srgbClr val="111827"/>
          </a:solidFill>
          <a:ln w="12700">
            <a:solidFill>
              <a:srgbClr val="00E087"/>
            </a:solidFill>
            <a:prstDash val="solid"/>
          </a:ln>
        </p:spPr>
      </p:sp>
      <p:sp>
        <p:nvSpPr>
          <p:cNvPr id="21" name="Text 18"/>
          <p:cNvSpPr txBox="1"/>
          <p:nvPr/>
        </p:nvSpPr>
        <p:spPr>
          <a:xfrm>
            <a:off x="4800600" y="2560320"/>
            <a:ext cx="37490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Why FIFO</a:t>
            </a:r>
            <a:endParaRPr lang="en-US" sz="1500" dirty="0"/>
          </a:p>
        </p:txBody>
      </p:sp>
      <p:sp>
        <p:nvSpPr>
          <p:cNvPr id="22" name="Text 19"/>
          <p:cNvSpPr txBox="1"/>
          <p:nvPr/>
        </p:nvSpPr>
        <p:spPr>
          <a:xfrm>
            <a:off x="4800600" y="2907792"/>
            <a:ext cx="3749040" cy="429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Explores in layers (distance 1, 2, 3...). First hit on the player is the shortest path.</a:t>
            </a:r>
            <a:endParaRPr lang="en-US" sz="1200" dirty="0"/>
          </a:p>
        </p:txBody>
      </p:sp>
      <p:sp>
        <p:nvSpPr>
          <p:cNvPr id="23" name="Shape 20"/>
          <p:cNvSpPr/>
          <p:nvPr/>
        </p:nvSpPr>
        <p:spPr>
          <a:xfrm>
            <a:off x="457200" y="3611880"/>
            <a:ext cx="4023360" cy="1051560"/>
          </a:xfrm>
          <a:prstGeom prst="roundRect">
            <a:avLst>
              <a:gd name="adj" fmla="val 6957"/>
            </a:avLst>
          </a:prstGeom>
          <a:solidFill>
            <a:srgbClr val="111827"/>
          </a:solidFill>
          <a:ln w="12700">
            <a:solidFill>
              <a:srgbClr val="FFB020"/>
            </a:solidFill>
            <a:prstDash val="solid"/>
          </a:ln>
        </p:spPr>
      </p:sp>
      <p:sp>
        <p:nvSpPr>
          <p:cNvPr id="24" name="Text 21"/>
          <p:cNvSpPr txBox="1"/>
          <p:nvPr/>
        </p:nvSpPr>
        <p:spPr>
          <a:xfrm>
            <a:off x="594360" y="3703320"/>
            <a:ext cx="374904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Get the move</a:t>
            </a:r>
            <a:endParaRPr lang="en-US" sz="1500" dirty="0"/>
          </a:p>
        </p:txBody>
      </p:sp>
      <p:sp>
        <p:nvSpPr>
          <p:cNvPr id="25" name="Text 22"/>
          <p:cNvSpPr txBox="1"/>
          <p:nvPr/>
        </p:nvSpPr>
        <p:spPr>
          <a:xfrm>
            <a:off x="594360" y="4050792"/>
            <a:ext cx="3749040" cy="52120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Walk parent pointers back from the player to the cell next to the hunter. That is the next step.</a:t>
            </a:r>
            <a:endParaRPr lang="en-US" sz="1200" dirty="0"/>
          </a:p>
        </p:txBody>
      </p:sp>
      <p:sp>
        <p:nvSpPr>
          <p:cNvPr id="26" name="Shape 23"/>
          <p:cNvSpPr/>
          <p:nvPr/>
        </p:nvSpPr>
        <p:spPr>
          <a:xfrm>
            <a:off x="4663440" y="3611880"/>
            <a:ext cx="4023360" cy="1051560"/>
          </a:xfrm>
          <a:prstGeom prst="roundRect">
            <a:avLst>
              <a:gd name="adj" fmla="val 6957"/>
            </a:avLst>
          </a:prstGeom>
          <a:solidFill>
            <a:srgbClr val="111827"/>
          </a:solidFill>
          <a:ln w="12700">
            <a:solidFill>
              <a:srgbClr val="FF4D6D"/>
            </a:solidFill>
            <a:prstDash val="solid"/>
          </a:ln>
        </p:spPr>
      </p:sp>
      <p:sp>
        <p:nvSpPr>
          <p:cNvPr id="27" name="Text 24"/>
          <p:cNvSpPr txBox="1"/>
          <p:nvPr/>
        </p:nvSpPr>
        <p:spPr>
          <a:xfrm>
            <a:off x="4800600" y="3703320"/>
            <a:ext cx="3749040" cy="320040"/>
          </a:xfrm>
          <a:prstGeom prst="rect">
            <a:avLst/>
          </a:prstGeom>
          <a:noFill/>
          <a:ln/>
        </p:spPr>
        <p:txBody>
          <a:bodyPr wrap="square" lIns="0" tIns="0" rIns="0" bIns="0" rtlCol="0" anchor="ctr"/>
          <a:lstStyle/>
          <a:p>
            <a:pPr indent="0" marL="0">
              <a:buNone/>
            </a:pPr>
            <a:r>
              <a:rPr lang="en-US" sz="1500" b="1" dirty="0">
                <a:solidFill>
                  <a:srgbClr val="FF4D6D"/>
                </a:solidFill>
                <a:latin typeface="Calibri" pitchFamily="34" charset="0"/>
                <a:ea typeface="Calibri" pitchFamily="34" charset="-122"/>
                <a:cs typeface="Calibri" pitchFamily="34" charset="-120"/>
              </a:rPr>
              <a:t>Why recompute</a:t>
            </a:r>
            <a:endParaRPr lang="en-US" sz="1500" dirty="0"/>
          </a:p>
        </p:txBody>
      </p:sp>
      <p:sp>
        <p:nvSpPr>
          <p:cNvPr id="28" name="Text 25"/>
          <p:cNvSpPr txBox="1"/>
          <p:nvPr/>
        </p:nvSpPr>
        <p:spPr>
          <a:xfrm>
            <a:off x="4800600" y="4050792"/>
            <a:ext cx="3749040" cy="52120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Player moves, so the old path goes stale. 1521 cells, ~3 runs per second: negligible cost.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Why Stack for DFS and Queue for BFS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The structure decides the behaviour of the algorithm</a:t>
            </a:r>
            <a:endParaRPr lang="en-US" sz="1400" dirty="0"/>
          </a:p>
        </p:txBody>
      </p:sp>
      <p:sp>
        <p:nvSpPr>
          <p:cNvPr id="5" name="Shape 2"/>
          <p:cNvSpPr/>
          <p:nvPr/>
        </p:nvSpPr>
        <p:spPr>
          <a:xfrm>
            <a:off x="457200" y="1371600"/>
            <a:ext cx="4023360" cy="2103120"/>
          </a:xfrm>
          <a:prstGeom prst="roundRect">
            <a:avLst>
              <a:gd name="adj" fmla="val 3478"/>
            </a:avLst>
          </a:prstGeom>
          <a:solidFill>
            <a:srgbClr val="111827"/>
          </a:solidFill>
          <a:ln w="12700">
            <a:solidFill>
              <a:srgbClr val="00E087"/>
            </a:solidFill>
            <a:prstDash val="solid"/>
          </a:ln>
        </p:spPr>
      </p:sp>
      <p:sp>
        <p:nvSpPr>
          <p:cNvPr id="6" name="Text 3"/>
          <p:cNvSpPr txBox="1"/>
          <p:nvPr/>
        </p:nvSpPr>
        <p:spPr>
          <a:xfrm>
            <a:off x="594360" y="1463040"/>
            <a:ext cx="37490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Stack + DFS  -&gt;  the maze</a:t>
            </a:r>
            <a:endParaRPr lang="en-US" sz="1500" dirty="0"/>
          </a:p>
        </p:txBody>
      </p:sp>
      <p:sp>
        <p:nvSpPr>
          <p:cNvPr id="7" name="Text 4"/>
          <p:cNvSpPr txBox="1"/>
          <p:nvPr/>
        </p:nvSpPr>
        <p:spPr>
          <a:xfrm>
            <a:off x="594360" y="1810512"/>
            <a:ext cx="3749040" cy="1572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Goes deep, then backtracks</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Visits every cell</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Long winding corridors</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NOT shortest path, so wrong for the hunter</a:t>
            </a:r>
            <a:endParaRPr lang="en-US" sz="1200" dirty="0"/>
          </a:p>
        </p:txBody>
      </p:sp>
      <p:sp>
        <p:nvSpPr>
          <p:cNvPr id="8" name="Shape 5"/>
          <p:cNvSpPr/>
          <p:nvPr/>
        </p:nvSpPr>
        <p:spPr>
          <a:xfrm>
            <a:off x="4663440" y="1371600"/>
            <a:ext cx="4023360" cy="2103120"/>
          </a:xfrm>
          <a:prstGeom prst="roundRect">
            <a:avLst>
              <a:gd name="adj" fmla="val 3478"/>
            </a:avLst>
          </a:prstGeom>
          <a:solidFill>
            <a:srgbClr val="111827"/>
          </a:solidFill>
          <a:ln w="12700">
            <a:solidFill>
              <a:srgbClr val="00E5FF"/>
            </a:solidFill>
            <a:prstDash val="solid"/>
          </a:ln>
        </p:spPr>
      </p:sp>
      <p:sp>
        <p:nvSpPr>
          <p:cNvPr id="9" name="Text 6"/>
          <p:cNvSpPr txBox="1"/>
          <p:nvPr/>
        </p:nvSpPr>
        <p:spPr>
          <a:xfrm>
            <a:off x="4800600" y="1463040"/>
            <a:ext cx="37490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Queue + BFS  -&gt;  the hunter</a:t>
            </a:r>
            <a:endParaRPr lang="en-US" sz="1500" dirty="0"/>
          </a:p>
        </p:txBody>
      </p:sp>
      <p:sp>
        <p:nvSpPr>
          <p:cNvPr id="10" name="Text 7"/>
          <p:cNvSpPr txBox="1"/>
          <p:nvPr/>
        </p:nvSpPr>
        <p:spPr>
          <a:xfrm>
            <a:off x="4800600" y="1810512"/>
            <a:ext cx="3749040" cy="157276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Expands level by level</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Shortest path in an unweighted grid</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Parent table rebuilds the route</a:t>
            </a:r>
            <a:endParaRPr lang="en-US" sz="1200" dirty="0"/>
          </a:p>
          <a:p>
            <a:pPr indent="0" marL="0">
              <a:buNone/>
            </a:pPr>
            <a:r>
              <a:rPr lang="en-US" sz="1200" dirty="0">
                <a:solidFill>
                  <a:srgbClr val="E6EDF7"/>
                </a:solidFill>
                <a:latin typeface="Calibri" pitchFamily="34" charset="0"/>
                <a:ea typeface="Calibri" pitchFamily="34" charset="-122"/>
                <a:cs typeface="Calibri" pitchFamily="34" charset="-120"/>
              </a:rPr>
              <a:t>Would give a short, branchy maze</a:t>
            </a:r>
            <a:endParaRPr lang="en-US" sz="1200" dirty="0"/>
          </a:p>
        </p:txBody>
      </p:sp>
      <p:sp>
        <p:nvSpPr>
          <p:cNvPr id="11" name="Shape 8"/>
          <p:cNvSpPr/>
          <p:nvPr/>
        </p:nvSpPr>
        <p:spPr>
          <a:xfrm>
            <a:off x="457200" y="3703320"/>
            <a:ext cx="8229600" cy="822960"/>
          </a:xfrm>
          <a:prstGeom prst="roundRect">
            <a:avLst>
              <a:gd name="adj" fmla="val 8889"/>
            </a:avLst>
          </a:prstGeom>
          <a:solidFill>
            <a:srgbClr val="111827"/>
          </a:solidFill>
          <a:ln w="12700">
            <a:solidFill>
              <a:srgbClr val="FFB020"/>
            </a:solidFill>
            <a:prstDash val="solid"/>
          </a:ln>
        </p:spPr>
      </p:sp>
      <p:sp>
        <p:nvSpPr>
          <p:cNvPr id="12" name="Text 9"/>
          <p:cNvSpPr txBox="1"/>
          <p:nvPr/>
        </p:nvSpPr>
        <p:spPr>
          <a:xfrm>
            <a:off x="640080" y="3703320"/>
            <a:ext cx="7863840" cy="822960"/>
          </a:xfrm>
          <a:prstGeom prst="rect">
            <a:avLst/>
          </a:prstGeom>
          <a:noFill/>
          <a:ln/>
        </p:spPr>
        <p:txBody>
          <a:bodyPr wrap="square" lIns="0" tIns="0" rIns="0" bIns="0" rtlCol="0" anchor="ctr"/>
          <a:lstStyle/>
          <a:p>
            <a:pPr indent="0" marL="0">
              <a:buNone/>
            </a:pPr>
            <a:r>
              <a:rPr lang="en-US" sz="1400" b="1" dirty="0">
                <a:solidFill>
                  <a:srgbClr val="FFB020"/>
                </a:solidFill>
                <a:latin typeface="Calibri" pitchFamily="34" charset="0"/>
                <a:ea typeface="Calibri" pitchFamily="34" charset="-122"/>
                <a:cs typeface="Calibri" pitchFamily="34" charset="-120"/>
              </a:rPr>
              <a:t>Swap test:  </a:t>
            </a:r>
            <a:pPr indent="0" marL="0">
              <a:buNone/>
            </a:pPr>
            <a:r>
              <a:rPr lang="en-US" sz="1400" dirty="0">
                <a:solidFill>
                  <a:srgbClr val="E6EDF7"/>
                </a:solidFill>
                <a:latin typeface="Calibri" pitchFamily="34" charset="0"/>
                <a:ea typeface="Calibri" pitchFamily="34" charset="-122"/>
                <a:cs typeface="Calibri" pitchFamily="34" charset="-120"/>
              </a:rPr>
              <a:t>a stack in the hunter makes it wander on long detours. A queue in the maze makes a weak, short-branched maze.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Our Own Library: dsa_lib</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Templated singly linked lists, no STL for Stack or Queue</a:t>
            </a:r>
            <a:endParaRPr lang="en-US" sz="1400" dirty="0"/>
          </a:p>
        </p:txBody>
      </p:sp>
      <p:sp>
        <p:nvSpPr>
          <p:cNvPr id="5" name="Shape 2"/>
          <p:cNvSpPr/>
          <p:nvPr/>
        </p:nvSpPr>
        <p:spPr>
          <a:xfrm>
            <a:off x="457200" y="1371600"/>
            <a:ext cx="3931920" cy="3200400"/>
          </a:xfrm>
          <a:prstGeom prst="roundRect">
            <a:avLst>
              <a:gd name="adj" fmla="val 2286"/>
            </a:avLst>
          </a:prstGeom>
          <a:solidFill>
            <a:srgbClr val="0B1020"/>
          </a:solidFill>
          <a:ln w="12700">
            <a:solidFill>
              <a:srgbClr val="00E5FF"/>
            </a:solidFill>
            <a:prstDash val="solid"/>
          </a:ln>
        </p:spPr>
      </p:sp>
      <p:sp>
        <p:nvSpPr>
          <p:cNvPr id="6" name="Text 3"/>
          <p:cNvSpPr txBox="1"/>
          <p:nvPr/>
        </p:nvSpPr>
        <p:spPr>
          <a:xfrm>
            <a:off x="640080" y="1463040"/>
            <a:ext cx="3657600" cy="3017520"/>
          </a:xfrm>
          <a:prstGeom prst="rect">
            <a:avLst/>
          </a:prstGeom>
          <a:noFill/>
          <a:ln/>
        </p:spPr>
        <p:txBody>
          <a:bodyPr wrap="square" lIns="0" tIns="0" rIns="0" bIns="0" rtlCol="0" anchor="t"/>
          <a:lstStyle/>
          <a:p>
            <a:pPr indent="0" marL="0">
              <a:buNone/>
            </a:pPr>
            <a:r>
              <a:rPr lang="en-US" sz="1200" dirty="0">
                <a:solidFill>
                  <a:srgbClr val="00E087"/>
                </a:solidFill>
                <a:latin typeface="Courier New" pitchFamily="34" charset="0"/>
                <a:ea typeface="Courier New" pitchFamily="34" charset="-122"/>
                <a:cs typeface="Courier New" pitchFamily="34" charset="-120"/>
              </a:rPr>
              <a:t>template &lt;typename T&gt;</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class Queue {</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struct Node {</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T data;</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Node* next;</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Node* headNode;</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Node* tailNode;   // O(1) push</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int count;</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 push, pop, front,</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  // empty, size, clear</a:t>
            </a:r>
            <a:endParaRPr lang="en-US" sz="1200" dirty="0"/>
          </a:p>
          <a:p>
            <a:pPr indent="0" marL="0">
              <a:buNone/>
            </a:pPr>
            <a:r>
              <a:rPr lang="en-US" sz="1200" dirty="0">
                <a:solidFill>
                  <a:srgbClr val="00E087"/>
                </a:solidFill>
                <a:latin typeface="Courier New" pitchFamily="34" charset="0"/>
                <a:ea typeface="Courier New" pitchFamily="34" charset="-122"/>
                <a:cs typeface="Courier New" pitchFamily="34" charset="-120"/>
              </a:rPr>
              <a:t>};</a:t>
            </a:r>
            <a:endParaRPr lang="en-US" sz="1200" dirty="0"/>
          </a:p>
        </p:txBody>
      </p:sp>
      <p:sp>
        <p:nvSpPr>
          <p:cNvPr id="7" name="Shape 4"/>
          <p:cNvSpPr/>
          <p:nvPr/>
        </p:nvSpPr>
        <p:spPr>
          <a:xfrm>
            <a:off x="4572000" y="1371600"/>
            <a:ext cx="4114800" cy="777240"/>
          </a:xfrm>
          <a:prstGeom prst="roundRect">
            <a:avLst>
              <a:gd name="adj" fmla="val 9412"/>
            </a:avLst>
          </a:prstGeom>
          <a:solidFill>
            <a:srgbClr val="111827"/>
          </a:solidFill>
          <a:ln w="12700">
            <a:solidFill>
              <a:srgbClr val="00E087"/>
            </a:solidFill>
            <a:prstDash val="solid"/>
          </a:ln>
        </p:spPr>
      </p:sp>
      <p:sp>
        <p:nvSpPr>
          <p:cNvPr id="8" name="Text 5"/>
          <p:cNvSpPr txBox="1"/>
          <p:nvPr/>
        </p:nvSpPr>
        <p:spPr>
          <a:xfrm>
            <a:off x="4709160" y="1463040"/>
            <a:ext cx="384048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Stack&lt;T&gt;</a:t>
            </a:r>
            <a:endParaRPr lang="en-US" sz="1500" dirty="0"/>
          </a:p>
        </p:txBody>
      </p:sp>
      <p:sp>
        <p:nvSpPr>
          <p:cNvPr id="9" name="Text 6"/>
          <p:cNvSpPr txBox="1"/>
          <p:nvPr/>
        </p:nvSpPr>
        <p:spPr>
          <a:xfrm>
            <a:off x="4709160" y="1810512"/>
            <a:ext cx="3840480" cy="24688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top pointer. push/pop at head: O(1).</a:t>
            </a:r>
            <a:endParaRPr lang="en-US" sz="1200" dirty="0"/>
          </a:p>
        </p:txBody>
      </p:sp>
      <p:sp>
        <p:nvSpPr>
          <p:cNvPr id="10" name="Shape 7"/>
          <p:cNvSpPr/>
          <p:nvPr/>
        </p:nvSpPr>
        <p:spPr>
          <a:xfrm>
            <a:off x="4572000" y="2286000"/>
            <a:ext cx="4114800" cy="777240"/>
          </a:xfrm>
          <a:prstGeom prst="roundRect">
            <a:avLst>
              <a:gd name="adj" fmla="val 9412"/>
            </a:avLst>
          </a:prstGeom>
          <a:solidFill>
            <a:srgbClr val="111827"/>
          </a:solidFill>
          <a:ln w="12700">
            <a:solidFill>
              <a:srgbClr val="00E5FF"/>
            </a:solidFill>
            <a:prstDash val="solid"/>
          </a:ln>
        </p:spPr>
      </p:sp>
      <p:sp>
        <p:nvSpPr>
          <p:cNvPr id="11" name="Text 8"/>
          <p:cNvSpPr txBox="1"/>
          <p:nvPr/>
        </p:nvSpPr>
        <p:spPr>
          <a:xfrm>
            <a:off x="4709160" y="2377440"/>
            <a:ext cx="384048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Queue&lt;T&gt;</a:t>
            </a:r>
            <a:endParaRPr lang="en-US" sz="1500" dirty="0"/>
          </a:p>
        </p:txBody>
      </p:sp>
      <p:sp>
        <p:nvSpPr>
          <p:cNvPr id="12" name="Text 9"/>
          <p:cNvSpPr txBox="1"/>
          <p:nvPr/>
        </p:nvSpPr>
        <p:spPr>
          <a:xfrm>
            <a:off x="4709160" y="2724912"/>
            <a:ext cx="3840480" cy="24688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head + tail pointers. push/pop: O(1).</a:t>
            </a:r>
            <a:endParaRPr lang="en-US" sz="1200" dirty="0"/>
          </a:p>
        </p:txBody>
      </p:sp>
      <p:sp>
        <p:nvSpPr>
          <p:cNvPr id="13" name="Shape 10"/>
          <p:cNvSpPr/>
          <p:nvPr/>
        </p:nvSpPr>
        <p:spPr>
          <a:xfrm>
            <a:off x="4572000" y="3200400"/>
            <a:ext cx="4114800" cy="777240"/>
          </a:xfrm>
          <a:prstGeom prst="roundRect">
            <a:avLst>
              <a:gd name="adj" fmla="val 9412"/>
            </a:avLst>
          </a:prstGeom>
          <a:solidFill>
            <a:srgbClr val="111827"/>
          </a:solidFill>
          <a:ln w="12700">
            <a:solidFill>
              <a:srgbClr val="FFB020"/>
            </a:solidFill>
            <a:prstDash val="solid"/>
          </a:ln>
        </p:spPr>
      </p:sp>
      <p:sp>
        <p:nvSpPr>
          <p:cNvPr id="14" name="Text 11"/>
          <p:cNvSpPr txBox="1"/>
          <p:nvPr/>
        </p:nvSpPr>
        <p:spPr>
          <a:xfrm>
            <a:off x="4709160" y="3291840"/>
            <a:ext cx="384048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Why linked list</a:t>
            </a:r>
            <a:endParaRPr lang="en-US" sz="1500" dirty="0"/>
          </a:p>
        </p:txBody>
      </p:sp>
      <p:sp>
        <p:nvSpPr>
          <p:cNvPr id="15" name="Text 12"/>
          <p:cNvSpPr txBox="1"/>
          <p:nvPr/>
        </p:nvSpPr>
        <p:spPr>
          <a:xfrm>
            <a:off x="4709160" y="3639312"/>
            <a:ext cx="3840480" cy="24688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No capacity limit, no shifting.</a:t>
            </a:r>
            <a:endParaRPr lang="en-US" sz="1200" dirty="0"/>
          </a:p>
        </p:txBody>
      </p:sp>
      <p:sp>
        <p:nvSpPr>
          <p:cNvPr id="16" name="Shape 13"/>
          <p:cNvSpPr/>
          <p:nvPr/>
        </p:nvSpPr>
        <p:spPr>
          <a:xfrm>
            <a:off x="4572000" y="3977640"/>
            <a:ext cx="4114800" cy="685800"/>
          </a:xfrm>
          <a:prstGeom prst="roundRect">
            <a:avLst>
              <a:gd name="adj" fmla="val 10667"/>
            </a:avLst>
          </a:prstGeom>
          <a:solidFill>
            <a:srgbClr val="111827"/>
          </a:solidFill>
          <a:ln w="12700">
            <a:solidFill>
              <a:srgbClr val="FF4D6D"/>
            </a:solidFill>
            <a:prstDash val="solid"/>
          </a:ln>
        </p:spPr>
      </p:sp>
      <p:sp>
        <p:nvSpPr>
          <p:cNvPr id="17" name="Text 14"/>
          <p:cNvSpPr txBox="1"/>
          <p:nvPr/>
        </p:nvSpPr>
        <p:spPr>
          <a:xfrm>
            <a:off x="4709160" y="4069080"/>
            <a:ext cx="3840480" cy="320040"/>
          </a:xfrm>
          <a:prstGeom prst="rect">
            <a:avLst/>
          </a:prstGeom>
          <a:noFill/>
          <a:ln/>
        </p:spPr>
        <p:txBody>
          <a:bodyPr wrap="square" lIns="0" tIns="0" rIns="0" bIns="0" rtlCol="0" anchor="ctr"/>
          <a:lstStyle/>
          <a:p>
            <a:pPr indent="0" marL="0">
              <a:buNone/>
            </a:pPr>
            <a:r>
              <a:rPr lang="en-US" sz="1500" b="1" dirty="0">
                <a:solidFill>
                  <a:srgbClr val="FF4D6D"/>
                </a:solidFill>
                <a:latin typeface="Calibri" pitchFamily="34" charset="0"/>
                <a:ea typeface="Calibri" pitchFamily="34" charset="-122"/>
                <a:cs typeface="Calibri" pitchFamily="34" charset="-120"/>
              </a:rPr>
              <a:t>Safety</a:t>
            </a:r>
            <a:endParaRPr lang="en-US" sz="1500" dirty="0"/>
          </a:p>
        </p:txBody>
      </p:sp>
      <p:sp>
        <p:nvSpPr>
          <p:cNvPr id="18" name="Text 15"/>
          <p:cNvSpPr txBox="1"/>
          <p:nvPr/>
        </p:nvSpPr>
        <p:spPr>
          <a:xfrm>
            <a:off x="4709160" y="4416552"/>
            <a:ext cx="3840480" cy="15544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empty checks, destructor calls clear().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Complexity Analysis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Grid is 39x39 = 1521 cells, so everything here is cheap</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834640"/>
                <a:gridCol w="2194560"/>
                <a:gridCol w="3200400"/>
              </a:tblGrid>
              <a:tr h="502920">
                <a:tc>
                  <a:txBody>
                    <a:bodyPr/>
                    <a:lstStyle/>
                    <a:p>
                      <a:pPr indent="0" marL="0">
                        <a:buNone/>
                      </a:pPr>
                      <a:r>
                        <a:rPr lang="en-US" sz="1400" b="1" dirty="0">
                          <a:solidFill>
                            <a:srgbClr val="070A12"/>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00E5FF"/>
                    </a:solidFill>
                  </a:tcPr>
                </a:tc>
                <a:tc>
                  <a:txBody>
                    <a:bodyPr/>
                    <a:lstStyle/>
                    <a:p>
                      <a:pPr indent="0" marL="0">
                        <a:buNone/>
                      </a:pPr>
                      <a:r>
                        <a:rPr lang="en-US" sz="1400" b="1" dirty="0">
                          <a:solidFill>
                            <a:srgbClr val="070A12"/>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00E5FF"/>
                    </a:solidFill>
                  </a:tcPr>
                </a:tc>
                <a:tc>
                  <a:txBody>
                    <a:bodyPr/>
                    <a:lstStyle/>
                    <a:p>
                      <a:pPr indent="0" marL="0">
                        <a:buNone/>
                      </a:pPr>
                      <a:r>
                        <a:rPr lang="en-US" sz="1400" b="1" dirty="0">
                          <a:solidFill>
                            <a:srgbClr val="070A12"/>
                          </a:solidFill>
                          <a:latin typeface="Calibri" pitchFamily="34" charset="0"/>
                          <a:ea typeface="Calibri" pitchFamily="34" charset="-122"/>
                          <a:cs typeface="Calibri" pitchFamily="34" charset="-120"/>
                        </a:rPr>
                        <a:t>Space</a:t>
                      </a:r>
                      <a:endParaRPr lang="en-US" sz="14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00E5FF"/>
                    </a:solidFill>
                  </a:tcPr>
                </a:tc>
              </a:tr>
              <a:tr h="502920">
                <a:tc>
                  <a:txBody>
                    <a:bodyPr/>
                    <a:lstStyle/>
                    <a:p>
                      <a:pPr indent="0" marL="0">
                        <a:buNone/>
                      </a:pPr>
                      <a:r>
                        <a:rPr lang="en-US" sz="1300" b="1" dirty="0">
                          <a:solidFill>
                            <a:srgbClr val="E6EDF7"/>
                          </a:solidFill>
                          <a:latin typeface="Calibri" pitchFamily="34" charset="0"/>
                          <a:ea typeface="Calibri" pitchFamily="34" charset="-122"/>
                          <a:cs typeface="Calibri" pitchFamily="34" charset="-120"/>
                        </a:rPr>
                        <a:t>Maze DFS (Stack)</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 worst-case stack</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r>
              <a:tr h="502920">
                <a:tc>
                  <a:txBody>
                    <a:bodyPr/>
                    <a:lstStyle/>
                    <a:p>
                      <a:pPr indent="0" marL="0">
                        <a:buNone/>
                      </a:pPr>
                      <a:r>
                        <a:rPr lang="en-US" sz="1300" b="1" dirty="0">
                          <a:solidFill>
                            <a:srgbClr val="E6EDF7"/>
                          </a:solidFill>
                          <a:latin typeface="Calibri" pitchFamily="34" charset="0"/>
                          <a:ea typeface="Calibri" pitchFamily="34" charset="-122"/>
                          <a:cs typeface="Calibri" pitchFamily="34" charset="-120"/>
                        </a:rPr>
                        <a:t>Braiding pass</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 wall list</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r>
              <a:tr h="502920">
                <a:tc>
                  <a:txBody>
                    <a:bodyPr/>
                    <a:lstStyle/>
                    <a:p>
                      <a:pPr indent="0" marL="0">
                        <a:buNone/>
                      </a:pPr>
                      <a:r>
                        <a:rPr lang="en-US" sz="1300" b="1" dirty="0">
                          <a:solidFill>
                            <a:srgbClr val="E6EDF7"/>
                          </a:solidFill>
                          <a:latin typeface="Calibri" pitchFamily="34" charset="0"/>
                          <a:ea typeface="Calibri" pitchFamily="34" charset="-122"/>
                          <a:cs typeface="Calibri" pitchFamily="34" charset="-120"/>
                        </a:rPr>
                        <a:t>Hunter BFS per step (Queue)</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O(V + E) = O(R x C)</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 visited + parent + queue</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r>
              <a:tr h="502920">
                <a:tc>
                  <a:txBody>
                    <a:bodyPr/>
                    <a:lstStyle/>
                    <a:p>
                      <a:pPr indent="0" marL="0">
                        <a:buNone/>
                      </a:pPr>
                      <a:r>
                        <a:rPr lang="en-US" sz="1300" b="1" dirty="0">
                          <a:solidFill>
                            <a:srgbClr val="E6EDF7"/>
                          </a:solidFill>
                          <a:latin typeface="Calibri" pitchFamily="34" charset="0"/>
                          <a:ea typeface="Calibri" pitchFamily="34" charset="-122"/>
                          <a:cs typeface="Calibri" pitchFamily="34" charset="-120"/>
                        </a:rPr>
                        <a:t>push / pop / front / top</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r>
              <a:tr h="502920">
                <a:tc>
                  <a:txBody>
                    <a:bodyPr/>
                    <a:lstStyle/>
                    <a:p>
                      <a:pPr indent="0" marL="0">
                        <a:buNone/>
                      </a:pPr>
                      <a:r>
                        <a:rPr lang="en-US" sz="1300" b="1" dirty="0">
                          <a:solidFill>
                            <a:srgbClr val="E6EDF7"/>
                          </a:solidFill>
                          <a:latin typeface="Calibri" pitchFamily="34" charset="0"/>
                          <a:ea typeface="Calibri" pitchFamily="34" charset="-122"/>
                          <a:cs typeface="Calibri" pitchFamily="34" charset="-120"/>
                        </a:rPr>
                        <a:t>Player fog update</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O(radius^2)</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O(R x C) discovered map</a:t>
                      </a:r>
                      <a:endParaRPr lang="en-US" sz="1300" dirty="0">
                        <a:latin typeface="Calibri" charset="0"/>
                        <a:ea typeface="Calibri" charset="0"/>
                        <a:cs typeface="Calibri" charset="0"/>
                      </a:endParaRPr>
                    </a:p>
                  </a:txBody>
                  <a:tcPr marL="91440" marR="91440" marT="45720" marB="45720" anchor="ctr">
                    <a:lnL w="25400" cap="flat" cmpd="sng" algn="ctr">
                      <a:solidFill>
                        <a:srgbClr val="070A12"/>
                      </a:solidFill>
                      <a:prstDash val="solid"/>
                      <a:round/>
                      <a:headEnd type="none" w="med" len="med"/>
                      <a:tailEnd type="none" w="med" len="med"/>
                    </a:lnL>
                    <a:lnR w="25400" cap="flat" cmpd="sng" algn="ctr">
                      <a:solidFill>
                        <a:srgbClr val="070A12"/>
                      </a:solidFill>
                      <a:prstDash val="solid"/>
                      <a:round/>
                      <a:headEnd type="none" w="med" len="med"/>
                      <a:tailEnd type="none" w="med" len="med"/>
                    </a:lnR>
                    <a:lnT w="25400" cap="flat" cmpd="sng" algn="ctr">
                      <a:solidFill>
                        <a:srgbClr val="070A12"/>
                      </a:solidFill>
                      <a:prstDash val="solid"/>
                      <a:round/>
                      <a:headEnd type="none" w="med" len="med"/>
                      <a:tailEnd type="none" w="med" len="med"/>
                    </a:lnT>
                    <a:lnB w="25400" cap="flat" cmpd="sng" algn="ctr">
                      <a:solidFill>
                        <a:srgbClr val="070A12"/>
                      </a:solidFill>
                      <a:prstDash val="solid"/>
                      <a:round/>
                      <a:headEnd type="none" w="med" len="med"/>
                      <a:tailEnd type="none" w="med" len="med"/>
                    </a:lnB>
                    <a:solidFill>
                      <a:srgbClr val="11182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Supporting Data Structures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Other structures already present in the code</a:t>
            </a:r>
            <a:endParaRPr lang="en-US" sz="1400" dirty="0"/>
          </a:p>
        </p:txBody>
      </p:sp>
      <p:sp>
        <p:nvSpPr>
          <p:cNvPr id="5" name="Shape 2"/>
          <p:cNvSpPr/>
          <p:nvPr/>
        </p:nvSpPr>
        <p:spPr>
          <a:xfrm>
            <a:off x="457200" y="1371600"/>
            <a:ext cx="4023360" cy="1554480"/>
          </a:xfrm>
          <a:prstGeom prst="roundRect">
            <a:avLst>
              <a:gd name="adj" fmla="val 4706"/>
            </a:avLst>
          </a:prstGeom>
          <a:solidFill>
            <a:srgbClr val="111827"/>
          </a:solidFill>
          <a:ln w="12700">
            <a:solidFill>
              <a:srgbClr val="00E5FF"/>
            </a:solidFill>
            <a:prstDash val="solid"/>
          </a:ln>
        </p:spPr>
      </p:sp>
      <p:sp>
        <p:nvSpPr>
          <p:cNvPr id="6" name="Text 3"/>
          <p:cNvSpPr txBox="1"/>
          <p:nvPr/>
        </p:nvSpPr>
        <p:spPr>
          <a:xfrm>
            <a:off x="594360" y="1463040"/>
            <a:ext cx="37490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2D Arrays</a:t>
            </a:r>
            <a:endParaRPr lang="en-US" sz="1500" dirty="0"/>
          </a:p>
        </p:txBody>
      </p:sp>
      <p:sp>
        <p:nvSpPr>
          <p:cNvPr id="7" name="Text 4"/>
          <p:cNvSpPr txBox="1"/>
          <p:nvPr/>
        </p:nvSpPr>
        <p:spPr>
          <a:xfrm>
            <a:off x="594360" y="181051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Maze grid, visited, parent, and the fog-of-war discovered map.</a:t>
            </a:r>
            <a:endParaRPr lang="en-US" sz="1200" dirty="0"/>
          </a:p>
        </p:txBody>
      </p:sp>
      <p:sp>
        <p:nvSpPr>
          <p:cNvPr id="8" name="Shape 5"/>
          <p:cNvSpPr/>
          <p:nvPr/>
        </p:nvSpPr>
        <p:spPr>
          <a:xfrm>
            <a:off x="4663440" y="1371600"/>
            <a:ext cx="4023360" cy="1554480"/>
          </a:xfrm>
          <a:prstGeom prst="roundRect">
            <a:avLst>
              <a:gd name="adj" fmla="val 4706"/>
            </a:avLst>
          </a:prstGeom>
          <a:solidFill>
            <a:srgbClr val="111827"/>
          </a:solidFill>
          <a:ln w="12700">
            <a:solidFill>
              <a:srgbClr val="00E087"/>
            </a:solidFill>
            <a:prstDash val="solid"/>
          </a:ln>
        </p:spPr>
      </p:sp>
      <p:sp>
        <p:nvSpPr>
          <p:cNvPr id="9" name="Text 6"/>
          <p:cNvSpPr txBox="1"/>
          <p:nvPr/>
        </p:nvSpPr>
        <p:spPr>
          <a:xfrm>
            <a:off x="4800600" y="1463040"/>
            <a:ext cx="37490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Implicit Graph</a:t>
            </a:r>
            <a:endParaRPr lang="en-US" sz="1500" dirty="0"/>
          </a:p>
        </p:txBody>
      </p:sp>
      <p:sp>
        <p:nvSpPr>
          <p:cNvPr id="10" name="Text 7"/>
          <p:cNvSpPr txBox="1"/>
          <p:nvPr/>
        </p:nvSpPr>
        <p:spPr>
          <a:xfrm>
            <a:off x="4800600" y="181051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Open cell = vertex, adjacent open cell = edge. Neighbours computed, no adjacency list.</a:t>
            </a:r>
            <a:endParaRPr lang="en-US" sz="1200" dirty="0"/>
          </a:p>
        </p:txBody>
      </p:sp>
      <p:sp>
        <p:nvSpPr>
          <p:cNvPr id="11" name="Shape 8"/>
          <p:cNvSpPr/>
          <p:nvPr/>
        </p:nvSpPr>
        <p:spPr>
          <a:xfrm>
            <a:off x="457200" y="3108960"/>
            <a:ext cx="4023360" cy="1554480"/>
          </a:xfrm>
          <a:prstGeom prst="roundRect">
            <a:avLst>
              <a:gd name="adj" fmla="val 4706"/>
            </a:avLst>
          </a:prstGeom>
          <a:solidFill>
            <a:srgbClr val="111827"/>
          </a:solidFill>
          <a:ln w="12700">
            <a:solidFill>
              <a:srgbClr val="FFB020"/>
            </a:solidFill>
            <a:prstDash val="solid"/>
          </a:ln>
        </p:spPr>
      </p:sp>
      <p:sp>
        <p:nvSpPr>
          <p:cNvPr id="12" name="Text 9"/>
          <p:cNvSpPr txBox="1"/>
          <p:nvPr/>
        </p:nvSpPr>
        <p:spPr>
          <a:xfrm>
            <a:off x="594360" y="3200400"/>
            <a:ext cx="374904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Pairs</a:t>
            </a:r>
            <a:endParaRPr lang="en-US" sz="1500" dirty="0"/>
          </a:p>
        </p:txBody>
      </p:sp>
      <p:sp>
        <p:nvSpPr>
          <p:cNvPr id="13" name="Text 10"/>
          <p:cNvSpPr txBox="1"/>
          <p:nvPr/>
        </p:nvSpPr>
        <p:spPr>
          <a:xfrm>
            <a:off x="594360" y="354787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(row, col) is the element type stored in both the Stack and the Queue.</a:t>
            </a:r>
            <a:endParaRPr lang="en-US" sz="1200" dirty="0"/>
          </a:p>
        </p:txBody>
      </p:sp>
      <p:sp>
        <p:nvSpPr>
          <p:cNvPr id="14" name="Shape 11"/>
          <p:cNvSpPr/>
          <p:nvPr/>
        </p:nvSpPr>
        <p:spPr>
          <a:xfrm>
            <a:off x="4663440" y="3108960"/>
            <a:ext cx="4023360" cy="1554480"/>
          </a:xfrm>
          <a:prstGeom prst="roundRect">
            <a:avLst>
              <a:gd name="adj" fmla="val 4706"/>
            </a:avLst>
          </a:prstGeom>
          <a:solidFill>
            <a:srgbClr val="111827"/>
          </a:solidFill>
          <a:ln w="12700">
            <a:solidFill>
              <a:srgbClr val="FF4D6D"/>
            </a:solidFill>
            <a:prstDash val="solid"/>
          </a:ln>
        </p:spPr>
      </p:sp>
      <p:sp>
        <p:nvSpPr>
          <p:cNvPr id="15" name="Text 12"/>
          <p:cNvSpPr txBox="1"/>
          <p:nvPr/>
        </p:nvSpPr>
        <p:spPr>
          <a:xfrm>
            <a:off x="4800600" y="3200400"/>
            <a:ext cx="3749040" cy="320040"/>
          </a:xfrm>
          <a:prstGeom prst="rect">
            <a:avLst/>
          </a:prstGeom>
          <a:noFill/>
          <a:ln/>
        </p:spPr>
        <p:txBody>
          <a:bodyPr wrap="square" lIns="0" tIns="0" rIns="0" bIns="0" rtlCol="0" anchor="ctr"/>
          <a:lstStyle/>
          <a:p>
            <a:pPr indent="0" marL="0">
              <a:buNone/>
            </a:pPr>
            <a:r>
              <a:rPr lang="en-US" sz="1500" b="1" dirty="0">
                <a:solidFill>
                  <a:srgbClr val="FF4D6D"/>
                </a:solidFill>
                <a:latin typeface="Calibri" pitchFamily="34" charset="0"/>
                <a:ea typeface="Calibri" pitchFamily="34" charset="-122"/>
                <a:cs typeface="Calibri" pitchFamily="34" charset="-120"/>
              </a:rPr>
              <a:t>Linked List</a:t>
            </a:r>
            <a:endParaRPr lang="en-US" sz="1500" dirty="0"/>
          </a:p>
        </p:txBody>
      </p:sp>
      <p:sp>
        <p:nvSpPr>
          <p:cNvPr id="16" name="Text 13"/>
          <p:cNvSpPr txBox="1"/>
          <p:nvPr/>
        </p:nvSpPr>
        <p:spPr>
          <a:xfrm>
            <a:off x="4800600" y="3547872"/>
            <a:ext cx="3749040" cy="10241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Node chain underneath both Stack and Queue.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A12"/>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E6EDF7"/>
                </a:solidFill>
                <a:latin typeface="Cambria" pitchFamily="34" charset="0"/>
                <a:ea typeface="Cambria" pitchFamily="34" charset="-122"/>
                <a:cs typeface="Cambria" pitchFamily="34" charset="-120"/>
              </a:rPr>
              <a:t>What We Will Build Next</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00E5FF"/>
                </a:solidFill>
                <a:latin typeface="Calibri" pitchFamily="34" charset="0"/>
                <a:ea typeface="Calibri" pitchFamily="34" charset="-122"/>
                <a:cs typeface="Calibri" pitchFamily="34" charset="-120"/>
              </a:rPr>
              <a:t>Aligned with the syllabus: arrays through trees, plus sorting</a:t>
            </a:r>
            <a:endParaRPr lang="en-US" sz="1400" dirty="0"/>
          </a:p>
        </p:txBody>
      </p:sp>
      <p:sp>
        <p:nvSpPr>
          <p:cNvPr id="5" name="Shape 2"/>
          <p:cNvSpPr/>
          <p:nvPr/>
        </p:nvSpPr>
        <p:spPr>
          <a:xfrm>
            <a:off x="457200" y="1463040"/>
            <a:ext cx="1965960" cy="365760"/>
          </a:xfrm>
          <a:prstGeom prst="roundRect">
            <a:avLst>
              <a:gd name="adj" fmla="val 50000"/>
            </a:avLst>
          </a:prstGeom>
          <a:solidFill>
            <a:srgbClr val="00E087"/>
          </a:solidFill>
          <a:ln w="12700">
            <a:solidFill>
              <a:srgbClr val="00E087"/>
            </a:solidFill>
            <a:prstDash val="solid"/>
          </a:ln>
        </p:spPr>
      </p:sp>
      <p:sp>
        <p:nvSpPr>
          <p:cNvPr id="6" name="Text 3"/>
          <p:cNvSpPr txBox="1"/>
          <p:nvPr/>
        </p:nvSpPr>
        <p:spPr>
          <a:xfrm>
            <a:off x="457200" y="1463040"/>
            <a:ext cx="1965960" cy="365760"/>
          </a:xfrm>
          <a:prstGeom prst="rect">
            <a:avLst/>
          </a:prstGeom>
          <a:noFill/>
          <a:ln/>
        </p:spPr>
        <p:txBody>
          <a:bodyPr wrap="square" lIns="0" tIns="0" rIns="0" bIns="0" rtlCol="0" anchor="ctr"/>
          <a:lstStyle/>
          <a:p>
            <a:pPr algn="ctr" indent="0" marL="0">
              <a:buNone/>
            </a:pPr>
            <a:r>
              <a:rPr lang="en-US" sz="1300" b="1" dirty="0">
                <a:solidFill>
                  <a:srgbClr val="070A12"/>
                </a:solidFill>
                <a:latin typeface="Calibri" pitchFamily="34" charset="0"/>
                <a:ea typeface="Calibri" pitchFamily="34" charset="-122"/>
                <a:cs typeface="Calibri" pitchFamily="34" charset="-120"/>
              </a:rPr>
              <a:t>DONE</a:t>
            </a:r>
            <a:endParaRPr lang="en-US" sz="1300" dirty="0"/>
          </a:p>
        </p:txBody>
      </p:sp>
      <p:sp>
        <p:nvSpPr>
          <p:cNvPr id="7" name="Shape 4"/>
          <p:cNvSpPr/>
          <p:nvPr/>
        </p:nvSpPr>
        <p:spPr>
          <a:xfrm>
            <a:off x="457200" y="2011680"/>
            <a:ext cx="1965960" cy="2468880"/>
          </a:xfrm>
          <a:prstGeom prst="roundRect">
            <a:avLst>
              <a:gd name="adj" fmla="val 3721"/>
            </a:avLst>
          </a:prstGeom>
          <a:solidFill>
            <a:srgbClr val="111827"/>
          </a:solidFill>
          <a:ln w="12700">
            <a:solidFill>
              <a:srgbClr val="00E087"/>
            </a:solidFill>
            <a:prstDash val="solid"/>
          </a:ln>
        </p:spPr>
      </p:sp>
      <p:sp>
        <p:nvSpPr>
          <p:cNvPr id="8" name="Text 5"/>
          <p:cNvSpPr txBox="1"/>
          <p:nvPr/>
        </p:nvSpPr>
        <p:spPr>
          <a:xfrm>
            <a:off x="594360" y="2103120"/>
            <a:ext cx="1691640" cy="320040"/>
          </a:xfrm>
          <a:prstGeom prst="rect">
            <a:avLst/>
          </a:prstGeom>
          <a:noFill/>
          <a:ln/>
        </p:spPr>
        <p:txBody>
          <a:bodyPr wrap="square" lIns="0" tIns="0" rIns="0" bIns="0" rtlCol="0" anchor="ctr"/>
          <a:lstStyle/>
          <a:p>
            <a:pPr indent="0" marL="0">
              <a:buNone/>
            </a:pPr>
            <a:r>
              <a:rPr lang="en-US" sz="1500" b="1" dirty="0">
                <a:solidFill>
                  <a:srgbClr val="00E087"/>
                </a:solidFill>
                <a:latin typeface="Calibri" pitchFamily="34" charset="0"/>
                <a:ea typeface="Calibri" pitchFamily="34" charset="-122"/>
                <a:cs typeface="Calibri" pitchFamily="34" charset="-120"/>
              </a:rPr>
              <a:t>Core game</a:t>
            </a:r>
            <a:endParaRPr lang="en-US" sz="1500" dirty="0"/>
          </a:p>
        </p:txBody>
      </p:sp>
      <p:sp>
        <p:nvSpPr>
          <p:cNvPr id="9" name="Text 6"/>
          <p:cNvSpPr txBox="1"/>
          <p:nvPr/>
        </p:nvSpPr>
        <p:spPr>
          <a:xfrm>
            <a:off x="594360" y="2450592"/>
            <a:ext cx="1691640" cy="19385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Stack maze, Queue hunter, fog, states</a:t>
            </a:r>
            <a:endParaRPr lang="en-US" sz="1200" dirty="0"/>
          </a:p>
        </p:txBody>
      </p:sp>
      <p:sp>
        <p:nvSpPr>
          <p:cNvPr id="10" name="Shape 7"/>
          <p:cNvSpPr/>
          <p:nvPr/>
        </p:nvSpPr>
        <p:spPr>
          <a:xfrm>
            <a:off x="2560320" y="1463040"/>
            <a:ext cx="1965960" cy="365760"/>
          </a:xfrm>
          <a:prstGeom prst="roundRect">
            <a:avLst>
              <a:gd name="adj" fmla="val 50000"/>
            </a:avLst>
          </a:prstGeom>
          <a:solidFill>
            <a:srgbClr val="00E5FF"/>
          </a:solidFill>
          <a:ln w="12700">
            <a:solidFill>
              <a:srgbClr val="00E5FF"/>
            </a:solidFill>
            <a:prstDash val="solid"/>
          </a:ln>
        </p:spPr>
      </p:sp>
      <p:sp>
        <p:nvSpPr>
          <p:cNvPr id="11" name="Text 8"/>
          <p:cNvSpPr txBox="1"/>
          <p:nvPr/>
        </p:nvSpPr>
        <p:spPr>
          <a:xfrm>
            <a:off x="2560320" y="1463040"/>
            <a:ext cx="1965960" cy="365760"/>
          </a:xfrm>
          <a:prstGeom prst="rect">
            <a:avLst/>
          </a:prstGeom>
          <a:noFill/>
          <a:ln/>
        </p:spPr>
        <p:txBody>
          <a:bodyPr wrap="square" lIns="0" tIns="0" rIns="0" bIns="0" rtlCol="0" anchor="ctr"/>
          <a:lstStyle/>
          <a:p>
            <a:pPr algn="ctr" indent="0" marL="0">
              <a:buNone/>
            </a:pPr>
            <a:r>
              <a:rPr lang="en-US" sz="1300" b="1" dirty="0">
                <a:solidFill>
                  <a:srgbClr val="070A12"/>
                </a:solidFill>
                <a:latin typeface="Calibri" pitchFamily="34" charset="0"/>
                <a:ea typeface="Calibri" pitchFamily="34" charset="-122"/>
                <a:cs typeface="Calibri" pitchFamily="34" charset="-120"/>
              </a:rPr>
              <a:t>NEXT</a:t>
            </a:r>
            <a:endParaRPr lang="en-US" sz="1300" dirty="0"/>
          </a:p>
        </p:txBody>
      </p:sp>
      <p:sp>
        <p:nvSpPr>
          <p:cNvPr id="12" name="Shape 9"/>
          <p:cNvSpPr/>
          <p:nvPr/>
        </p:nvSpPr>
        <p:spPr>
          <a:xfrm>
            <a:off x="2560320" y="2011680"/>
            <a:ext cx="1965960" cy="2468880"/>
          </a:xfrm>
          <a:prstGeom prst="roundRect">
            <a:avLst>
              <a:gd name="adj" fmla="val 3721"/>
            </a:avLst>
          </a:prstGeom>
          <a:solidFill>
            <a:srgbClr val="111827"/>
          </a:solidFill>
          <a:ln w="12700">
            <a:solidFill>
              <a:srgbClr val="00E5FF"/>
            </a:solidFill>
            <a:prstDash val="solid"/>
          </a:ln>
        </p:spPr>
      </p:sp>
      <p:sp>
        <p:nvSpPr>
          <p:cNvPr id="13" name="Text 10"/>
          <p:cNvSpPr txBox="1"/>
          <p:nvPr/>
        </p:nvSpPr>
        <p:spPr>
          <a:xfrm>
            <a:off x="2697480" y="2103120"/>
            <a:ext cx="1691640" cy="320040"/>
          </a:xfrm>
          <a:prstGeom prst="rect">
            <a:avLst/>
          </a:prstGeom>
          <a:noFill/>
          <a:ln/>
        </p:spPr>
        <p:txBody>
          <a:bodyPr wrap="square" lIns="0" tIns="0" rIns="0" bIns="0"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BST leaderboard</a:t>
            </a:r>
            <a:endParaRPr lang="en-US" sz="1500" dirty="0"/>
          </a:p>
        </p:txBody>
      </p:sp>
      <p:sp>
        <p:nvSpPr>
          <p:cNvPr id="14" name="Text 11"/>
          <p:cNvSpPr txBox="1"/>
          <p:nvPr/>
        </p:nvSpPr>
        <p:spPr>
          <a:xfrm>
            <a:off x="2697480" y="2450592"/>
            <a:ext cx="1691640" cy="19385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Escape time as key. O(log n) insert. In-order = ranked list</a:t>
            </a:r>
            <a:endParaRPr lang="en-US" sz="1200" dirty="0"/>
          </a:p>
        </p:txBody>
      </p:sp>
      <p:sp>
        <p:nvSpPr>
          <p:cNvPr id="15" name="Shape 12"/>
          <p:cNvSpPr/>
          <p:nvPr/>
        </p:nvSpPr>
        <p:spPr>
          <a:xfrm>
            <a:off x="4663440" y="1463040"/>
            <a:ext cx="1965960" cy="365760"/>
          </a:xfrm>
          <a:prstGeom prst="roundRect">
            <a:avLst>
              <a:gd name="adj" fmla="val 50000"/>
            </a:avLst>
          </a:prstGeom>
          <a:solidFill>
            <a:srgbClr val="FFB020"/>
          </a:solidFill>
          <a:ln w="12700">
            <a:solidFill>
              <a:srgbClr val="FFB020"/>
            </a:solidFill>
            <a:prstDash val="solid"/>
          </a:ln>
        </p:spPr>
      </p:sp>
      <p:sp>
        <p:nvSpPr>
          <p:cNvPr id="16" name="Text 13"/>
          <p:cNvSpPr txBox="1"/>
          <p:nvPr/>
        </p:nvSpPr>
        <p:spPr>
          <a:xfrm>
            <a:off x="4663440" y="1463040"/>
            <a:ext cx="1965960" cy="365760"/>
          </a:xfrm>
          <a:prstGeom prst="rect">
            <a:avLst/>
          </a:prstGeom>
          <a:noFill/>
          <a:ln/>
        </p:spPr>
        <p:txBody>
          <a:bodyPr wrap="square" lIns="0" tIns="0" rIns="0" bIns="0" rtlCol="0" anchor="ctr"/>
          <a:lstStyle/>
          <a:p>
            <a:pPr algn="ctr" indent="0" marL="0">
              <a:buNone/>
            </a:pPr>
            <a:r>
              <a:rPr lang="en-US" sz="1300" b="1" dirty="0">
                <a:solidFill>
                  <a:srgbClr val="070A12"/>
                </a:solidFill>
                <a:latin typeface="Calibri" pitchFamily="34" charset="0"/>
                <a:ea typeface="Calibri" pitchFamily="34" charset="-122"/>
                <a:cs typeface="Calibri" pitchFamily="34" charset="-120"/>
              </a:rPr>
              <a:t>THEN</a:t>
            </a:r>
            <a:endParaRPr lang="en-US" sz="1300" dirty="0"/>
          </a:p>
        </p:txBody>
      </p:sp>
      <p:sp>
        <p:nvSpPr>
          <p:cNvPr id="17" name="Shape 14"/>
          <p:cNvSpPr/>
          <p:nvPr/>
        </p:nvSpPr>
        <p:spPr>
          <a:xfrm>
            <a:off x="4663440" y="2011680"/>
            <a:ext cx="1965960" cy="2468880"/>
          </a:xfrm>
          <a:prstGeom prst="roundRect">
            <a:avLst>
              <a:gd name="adj" fmla="val 3721"/>
            </a:avLst>
          </a:prstGeom>
          <a:solidFill>
            <a:srgbClr val="111827"/>
          </a:solidFill>
          <a:ln w="12700">
            <a:solidFill>
              <a:srgbClr val="FFB020"/>
            </a:solidFill>
            <a:prstDash val="solid"/>
          </a:ln>
        </p:spPr>
      </p:sp>
      <p:sp>
        <p:nvSpPr>
          <p:cNvPr id="18" name="Text 15"/>
          <p:cNvSpPr txBox="1"/>
          <p:nvPr/>
        </p:nvSpPr>
        <p:spPr>
          <a:xfrm>
            <a:off x="4800600" y="2103120"/>
            <a:ext cx="1691640" cy="320040"/>
          </a:xfrm>
          <a:prstGeom prst="rect">
            <a:avLst/>
          </a:prstGeom>
          <a:noFill/>
          <a:ln/>
        </p:spPr>
        <p:txBody>
          <a:bodyPr wrap="square" lIns="0" tIns="0" rIns="0" bIns="0" rtlCol="0" anchor="ctr"/>
          <a:lstStyle/>
          <a:p>
            <a:pPr indent="0" marL="0">
              <a:buNone/>
            </a:pPr>
            <a:r>
              <a:rPr lang="en-US" sz="1500" b="1" dirty="0">
                <a:solidFill>
                  <a:srgbClr val="FFB020"/>
                </a:solidFill>
                <a:latin typeface="Calibri" pitchFamily="34" charset="0"/>
                <a:ea typeface="Calibri" pitchFamily="34" charset="-122"/>
                <a:cs typeface="Calibri" pitchFamily="34" charset="-120"/>
              </a:rPr>
              <a:t>Sorting compare</a:t>
            </a:r>
            <a:endParaRPr lang="en-US" sz="1500" dirty="0"/>
          </a:p>
        </p:txBody>
      </p:sp>
      <p:sp>
        <p:nvSpPr>
          <p:cNvPr id="19" name="Text 16"/>
          <p:cNvSpPr txBox="1"/>
          <p:nvPr/>
        </p:nvSpPr>
        <p:spPr>
          <a:xfrm>
            <a:off x="4800600" y="2450592"/>
            <a:ext cx="1691640" cy="19385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Bubble, insertion, merge on scores. O(n^2) vs O(n log n)</a:t>
            </a:r>
            <a:endParaRPr lang="en-US" sz="1200" dirty="0"/>
          </a:p>
        </p:txBody>
      </p:sp>
      <p:sp>
        <p:nvSpPr>
          <p:cNvPr id="20" name="Shape 17"/>
          <p:cNvSpPr/>
          <p:nvPr/>
        </p:nvSpPr>
        <p:spPr>
          <a:xfrm>
            <a:off x="6766560" y="1463040"/>
            <a:ext cx="1965960" cy="365760"/>
          </a:xfrm>
          <a:prstGeom prst="roundRect">
            <a:avLst>
              <a:gd name="adj" fmla="val 50000"/>
            </a:avLst>
          </a:prstGeom>
          <a:solidFill>
            <a:srgbClr val="8B98B0"/>
          </a:solidFill>
          <a:ln w="12700">
            <a:solidFill>
              <a:srgbClr val="8B98B0"/>
            </a:solidFill>
            <a:prstDash val="solid"/>
          </a:ln>
        </p:spPr>
      </p:sp>
      <p:sp>
        <p:nvSpPr>
          <p:cNvPr id="21" name="Text 18"/>
          <p:cNvSpPr txBox="1"/>
          <p:nvPr/>
        </p:nvSpPr>
        <p:spPr>
          <a:xfrm>
            <a:off x="6766560" y="1463040"/>
            <a:ext cx="1965960" cy="365760"/>
          </a:xfrm>
          <a:prstGeom prst="rect">
            <a:avLst/>
          </a:prstGeom>
          <a:noFill/>
          <a:ln/>
        </p:spPr>
        <p:txBody>
          <a:bodyPr wrap="square" lIns="0" tIns="0" rIns="0" bIns="0" rtlCol="0" anchor="ctr"/>
          <a:lstStyle/>
          <a:p>
            <a:pPr algn="ctr" indent="0" marL="0">
              <a:buNone/>
            </a:pPr>
            <a:r>
              <a:rPr lang="en-US" sz="1300" b="1" dirty="0">
                <a:solidFill>
                  <a:srgbClr val="070A12"/>
                </a:solidFill>
                <a:latin typeface="Calibri" pitchFamily="34" charset="0"/>
                <a:ea typeface="Calibri" pitchFamily="34" charset="-122"/>
                <a:cs typeface="Calibri" pitchFamily="34" charset="-120"/>
              </a:rPr>
              <a:t>STRETCH</a:t>
            </a:r>
            <a:endParaRPr lang="en-US" sz="1300" dirty="0"/>
          </a:p>
        </p:txBody>
      </p:sp>
      <p:sp>
        <p:nvSpPr>
          <p:cNvPr id="22" name="Shape 19"/>
          <p:cNvSpPr/>
          <p:nvPr/>
        </p:nvSpPr>
        <p:spPr>
          <a:xfrm>
            <a:off x="6766560" y="2011680"/>
            <a:ext cx="1965960" cy="2468880"/>
          </a:xfrm>
          <a:prstGeom prst="roundRect">
            <a:avLst>
              <a:gd name="adj" fmla="val 3721"/>
            </a:avLst>
          </a:prstGeom>
          <a:solidFill>
            <a:srgbClr val="111827"/>
          </a:solidFill>
          <a:ln w="12700">
            <a:solidFill>
              <a:srgbClr val="8B98B0"/>
            </a:solidFill>
            <a:prstDash val="solid"/>
          </a:ln>
        </p:spPr>
      </p:sp>
      <p:sp>
        <p:nvSpPr>
          <p:cNvPr id="23" name="Text 20"/>
          <p:cNvSpPr txBox="1"/>
          <p:nvPr/>
        </p:nvSpPr>
        <p:spPr>
          <a:xfrm>
            <a:off x="6903720" y="2103120"/>
            <a:ext cx="1691640" cy="320040"/>
          </a:xfrm>
          <a:prstGeom prst="rect">
            <a:avLst/>
          </a:prstGeom>
          <a:noFill/>
          <a:ln/>
        </p:spPr>
        <p:txBody>
          <a:bodyPr wrap="square" lIns="0" tIns="0" rIns="0" bIns="0" rtlCol="0" anchor="ctr"/>
          <a:lstStyle/>
          <a:p>
            <a:pPr indent="0" marL="0">
              <a:buNone/>
            </a:pPr>
            <a:r>
              <a:rPr lang="en-US" sz="1500" b="1" dirty="0">
                <a:solidFill>
                  <a:srgbClr val="8B98B0"/>
                </a:solidFill>
                <a:latin typeface="Calibri" pitchFamily="34" charset="0"/>
                <a:ea typeface="Calibri" pitchFamily="34" charset="-122"/>
                <a:cs typeface="Calibri" pitchFamily="34" charset="-120"/>
              </a:rPr>
              <a:t>Polish</a:t>
            </a:r>
            <a:endParaRPr lang="en-US" sz="1500" dirty="0"/>
          </a:p>
        </p:txBody>
      </p:sp>
      <p:sp>
        <p:nvSpPr>
          <p:cNvPr id="24" name="Text 21"/>
          <p:cNvSpPr txBox="1"/>
          <p:nvPr/>
        </p:nvSpPr>
        <p:spPr>
          <a:xfrm>
            <a:off x="6903720" y="2450592"/>
            <a:ext cx="1691640" cy="1938528"/>
          </a:xfrm>
          <a:prstGeom prst="rect">
            <a:avLst/>
          </a:prstGeom>
          <a:noFill/>
          <a:ln/>
        </p:spPr>
        <p:txBody>
          <a:bodyPr wrap="square" lIns="0" tIns="0" rIns="0" bIns="0" rtlCol="0" anchor="t"/>
          <a:lstStyle/>
          <a:p>
            <a:pPr indent="0" marL="0">
              <a:buNone/>
            </a:pPr>
            <a:r>
              <a:rPr lang="en-US" sz="1200" dirty="0">
                <a:solidFill>
                  <a:srgbClr val="E6EDF7"/>
                </a:solidFill>
                <a:latin typeface="Calibri" pitchFamily="34" charset="0"/>
                <a:ea typeface="Calibri" pitchFamily="34" charset="-122"/>
                <a:cs typeface="Calibri" pitchFamily="34" charset="-120"/>
              </a:rPr>
              <a:t>Linked-list power-ups, ImGui panels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A12"/>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400" b="1" dirty="0">
                <a:solidFill>
                  <a:srgbClr val="00E5FF"/>
                </a:solidFill>
                <a:latin typeface="Cambria" pitchFamily="34" charset="0"/>
                <a:ea typeface="Cambria" pitchFamily="34" charset="-122"/>
                <a:cs typeface="Cambria" pitchFamily="34" charset="-120"/>
              </a:rPr>
              <a:t>Summary</a:t>
            </a:r>
            <a:endParaRPr lang="en-US" sz="3400" dirty="0"/>
          </a:p>
        </p:txBody>
      </p:sp>
      <p:sp>
        <p:nvSpPr>
          <p:cNvPr id="4" name="Text 1"/>
          <p:cNvSpPr txBox="1"/>
          <p:nvPr/>
        </p:nvSpPr>
        <p:spPr>
          <a:xfrm>
            <a:off x="457200" y="1280160"/>
            <a:ext cx="822960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7"/>
                </a:solidFill>
                <a:latin typeface="Calibri" pitchFamily="34" charset="0"/>
                <a:ea typeface="Calibri" pitchFamily="34" charset="-122"/>
                <a:cs typeface="Calibri" pitchFamily="34" charset="-120"/>
              </a:rPr>
              <a:t>Stack (own implementation) drives iterative DFS maze generation, because backtracking is LIFO.</a:t>
            </a:r>
            <a:endParaRPr lang="en-US" sz="1700" dirty="0"/>
          </a:p>
          <a:p>
            <a:pPr marL="342900" indent="-342900">
              <a:spcAft>
                <a:spcPts val="800"/>
              </a:spcAft>
              <a:buSzPct val="100000"/>
              <a:buChar char="•"/>
            </a:pPr>
            <a:r>
              <a:rPr lang="en-US" sz="1700" dirty="0">
                <a:solidFill>
                  <a:srgbClr val="E6EDF7"/>
                </a:solidFill>
                <a:latin typeface="Calibri" pitchFamily="34" charset="0"/>
                <a:ea typeface="Calibri" pitchFamily="34" charset="-122"/>
                <a:cs typeface="Calibri" pitchFamily="34" charset="-120"/>
              </a:rPr>
              <a:t>Queue (own implementation) drives BFS pursuit, because level-order expansion gives the shortest path.</a:t>
            </a:r>
            <a:endParaRPr lang="en-US" sz="1700" dirty="0"/>
          </a:p>
          <a:p>
            <a:pPr marL="342900" indent="-342900">
              <a:spcAft>
                <a:spcPts val="800"/>
              </a:spcAft>
              <a:buSzPct val="100000"/>
              <a:buChar char="•"/>
            </a:pPr>
            <a:r>
              <a:rPr lang="en-US" sz="1700" dirty="0">
                <a:solidFill>
                  <a:srgbClr val="E6EDF7"/>
                </a:solidFill>
                <a:latin typeface="Calibri" pitchFamily="34" charset="0"/>
                <a:ea typeface="Calibri" pitchFamily="34" charset="-122"/>
                <a:cs typeface="Calibri" pitchFamily="34" charset="-120"/>
              </a:rPr>
              <a:t>2D arrays and an implicit graph hold and model the maze.</a:t>
            </a:r>
            <a:endParaRPr lang="en-US" sz="1700" dirty="0"/>
          </a:p>
          <a:p>
            <a:pPr marL="342900" indent="-342900">
              <a:spcAft>
                <a:spcPts val="800"/>
              </a:spcAft>
              <a:buSzPct val="100000"/>
              <a:buChar char="•"/>
            </a:pPr>
            <a:r>
              <a:rPr lang="en-US" sz="1700" dirty="0">
                <a:solidFill>
                  <a:srgbClr val="E6EDF7"/>
                </a:solidFill>
                <a:latin typeface="Calibri" pitchFamily="34" charset="0"/>
                <a:ea typeface="Calibri" pitchFamily="34" charset="-122"/>
                <a:cs typeface="Calibri" pitchFamily="34" charset="-120"/>
              </a:rPr>
              <a:t>Next: BST leaderboard, then bubble / insertion / merge sort comparison.</a:t>
            </a:r>
            <a:endParaRPr lang="en-US" sz="1700" dirty="0"/>
          </a:p>
          <a:p>
            <a:pPr marL="342900" indent="-342900">
              <a:spcAft>
                <a:spcPts val="800"/>
              </a:spcAft>
              <a:buSzPct val="100000"/>
              <a:buChar char="•"/>
            </a:pPr>
            <a:r>
              <a:rPr lang="en-US" sz="1700" dirty="0">
                <a:solidFill>
                  <a:srgbClr val="E6EDF7"/>
                </a:solidFill>
                <a:latin typeface="Calibri" pitchFamily="34" charset="0"/>
                <a:ea typeface="Calibri" pitchFamily="34" charset="-122"/>
                <a:cs typeface="Calibri" pitchFamily="34" charset="-120"/>
              </a:rPr>
              <a:t>Course status: [fill in units covered]. Trees and sorting remain and map to the next two phases.</a:t>
            </a:r>
            <a:endParaRPr lang="en-US" sz="1700" dirty="0"/>
          </a:p>
        </p:txBody>
      </p:sp>
      <p:sp>
        <p:nvSpPr>
          <p:cNvPr id="5" name="Text 2"/>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1800" i="1" dirty="0">
                <a:solidFill>
                  <a:srgbClr val="00E087"/>
                </a:solidFill>
                <a:latin typeface="Calibri" pitchFamily="34" charset="0"/>
                <a:ea typeface="Calibri" pitchFamily="34" charset="-122"/>
                <a:cs typeface="Calibri" pitchFamily="34" charset="-120"/>
              </a:rPr>
              <a:t>Thank you.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Maze Chase - DSA FA1</dc:title>
  <dc:subject>PptxGenJS Presentation</dc:subject>
  <dc:creator>PptxGenJS</dc:creator>
  <cp:lastModifiedBy>PptxGenJS</cp:lastModifiedBy>
  <cp:revision>1</cp:revision>
  <dcterms:created xsi:type="dcterms:W3CDTF">2026-09-23T21:49:10Z</dcterms:created>
  <dcterms:modified xsi:type="dcterms:W3CDTF">2026-09-23T21:49:10Z</dcterms:modified>
</cp:coreProperties>
</file>